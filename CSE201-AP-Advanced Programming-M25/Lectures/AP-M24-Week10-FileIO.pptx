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media/image1.png" ContentType="image/png"/>
  <Override PartName="/ppt/media/image67.png" ContentType="image/png"/>
  <Override PartName="/ppt/media/image33.png" ContentType="image/png"/>
  <Override PartName="/ppt/media/image36.png" ContentType="image/png"/>
  <Override PartName="/ppt/media/image12.png" ContentType="image/png"/>
  <Override PartName="/ppt/media/image5.png" ContentType="image/png"/>
  <Override PartName="/ppt/media/image37.png" ContentType="image/png"/>
  <Override PartName="/ppt/media/image13.png" ContentType="image/png"/>
  <Override PartName="/ppt/media/image6.png" ContentType="image/png"/>
  <Override PartName="/ppt/media/image38.png" ContentType="image/png"/>
  <Override PartName="/ppt/media/image14.png" ContentType="image/png"/>
  <Override PartName="/ppt/media/image7.png" ContentType="image/png"/>
  <Override PartName="/ppt/media/image39.png" ContentType="image/png"/>
  <Override PartName="/ppt/media/image2.png" ContentType="image/png"/>
  <Override PartName="/ppt/media/image68.png" ContentType="image/png"/>
  <Override PartName="/ppt/media/image34.png" ContentType="image/png"/>
  <Override PartName="/ppt/media/image17.png" ContentType="image/png"/>
  <Override PartName="/ppt/media/image11.png" ContentType="image/png"/>
  <Override PartName="/ppt/media/image4.png" ContentType="image/png"/>
  <Override PartName="/ppt/media/image3.png" ContentType="image/png"/>
  <Override PartName="/ppt/media/image10.png" ContentType="image/png"/>
  <Override PartName="/ppt/media/image69.png" ContentType="image/png"/>
  <Override PartName="/ppt/media/image35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8.png" ContentType="image/png"/>
  <Override PartName="/ppt/media/image15.png" ContentType="image/png"/>
  <Override PartName="/ppt/media/image21.png" ContentType="image/png"/>
  <Override PartName="/ppt/media/image9.png" ContentType="image/png"/>
  <Override PartName="/ppt/media/image16.png" ContentType="image/png"/>
  <Override PartName="/ppt/media/image25.png" ContentType="image/png"/>
  <Override PartName="/ppt/media/image26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40.png" ContentType="image/png"/>
  <Override PartName="/ppt/media/image41.png" ContentType="image/png"/>
  <Override PartName="/ppt/media/image42.png" ContentType="image/png"/>
  <Override PartName="/ppt/media/image43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47.png" ContentType="image/png"/>
  <Override PartName="/ppt/media/image48.png" ContentType="image/png"/>
  <Override PartName="/ppt/media/image49.png" ContentType="image/png"/>
  <Override PartName="/ppt/media/image50.png" ContentType="image/png"/>
  <Override PartName="/ppt/media/image51.png" ContentType="image/png"/>
  <Override PartName="/ppt/media/image52.png" ContentType="image/png"/>
  <Override PartName="/ppt/media/image53.png" ContentType="image/png"/>
  <Override PartName="/ppt/media/image54.png" ContentType="image/png"/>
  <Override PartName="/ppt/media/image27.png" ContentType="image/png"/>
  <Override PartName="/ppt/media/image60.png" ContentType="image/png"/>
  <Override PartName="/ppt/media/image28.png" ContentType="image/png"/>
  <Override PartName="/ppt/media/image61.png" ContentType="image/png"/>
  <Override PartName="/ppt/media/image29.png" ContentType="image/png"/>
  <Override PartName="/ppt/media/image62.png" ContentType="image/png"/>
  <Override PartName="/ppt/media/image63.png" ContentType="image/png"/>
  <Override PartName="/ppt/media/image64.png" ContentType="image/png"/>
  <Override PartName="/ppt/media/image55.png" ContentType="image/png"/>
  <Override PartName="/ppt/media/image70.png" ContentType="image/png"/>
  <Override PartName="/ppt/media/image65.png" ContentType="image/png"/>
  <Override PartName="/ppt/media/image56.png" ContentType="image/png"/>
  <Override PartName="/ppt/media/image71.png" ContentType="image/png"/>
  <Override PartName="/ppt/media/image66.png" ContentType="image/png"/>
  <Override PartName="/ppt/media/image57.png" ContentType="image/png"/>
  <Override PartName="/ppt/media/image72.png" ContentType="image/png"/>
  <Override PartName="/ppt/media/image58.png" ContentType="image/png"/>
  <Override PartName="/ppt/media/image73.png" ContentType="image/png"/>
  <Override PartName="/ppt/media/image59.png" ContentType="image/png"/>
  <Override PartName="/ppt/media/image74.png" ContentType="image/png"/>
  <Override PartName="/ppt/media/image22.png" ContentType="image/png"/>
  <Override PartName="/ppt/media/image75.png" ContentType="image/png"/>
  <Override PartName="/ppt/media/image23.png" ContentType="image/png"/>
  <Override PartName="/ppt/media/image76.png" ContentType="image/png"/>
  <Override PartName="/ppt/media/image24.png" ContentType="image/png"/>
  <Override PartName="/ppt/media/image77.png" ContentType="image/png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1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6" r:id="rId10"/>
  </p:sld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6240" cy="94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66240" cy="328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C3D5E21-15B5-4EBF-96A6-B4565297500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6240" cy="94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66240" cy="328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3063247-D40A-46BE-BD0A-FAA2632AD28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6240" cy="94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66240" cy="328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3564C9A-35C2-4873-B9B5-0B815FDC60F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6240" cy="94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66240" cy="328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7B69594-BD2D-4D04-9363-7B318BDB24E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6240" cy="94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66240" cy="328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E3071464-6253-4E4F-A98C-634C66D70D4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6240" cy="94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66240" cy="328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4CEFF5D3-85DE-44E4-958E-D0361D3CE4E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6240" cy="94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66240" cy="328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E6F4DD78-E0DD-4E95-9525-1BB8BF85BF7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Conten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6240" cy="94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66240" cy="328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114819AB-4FBA-4E12-8F07-7FE605A9940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Conten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6240" cy="94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66240" cy="328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38D34FF8-152F-4AE1-BF5B-24D840F8812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6240" cy="94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66240" cy="328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13B64EED-A9BC-43AA-BA3D-1AB2173961E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6240" cy="94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66240" cy="328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5EED0B88-D0C4-4977-8FB9-AAF2019974F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6240" cy="94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89600" cy="38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2880" cy="38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4E8BB2E-B4D1-4BFE-A5D9-9173245B09BC}" type="slidenum"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2880" cy="38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6240" cy="94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89600" cy="38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2880" cy="38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53B2085-691C-4221-BA54-CB091A54C953}" type="slidenum"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2880" cy="38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6240" cy="94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ftr" idx="7"/>
          </p:nvPr>
        </p:nvSpPr>
        <p:spPr>
          <a:xfrm>
            <a:off x="3447360" y="5165280"/>
            <a:ext cx="3189600" cy="38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sldNum" idx="8"/>
          </p:nvPr>
        </p:nvSpPr>
        <p:spPr>
          <a:xfrm>
            <a:off x="7227360" y="5165280"/>
            <a:ext cx="2342880" cy="38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406F625-DF9C-4F39-915F-3823897E661C}" type="slidenum"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9"/>
          </p:nvPr>
        </p:nvSpPr>
        <p:spPr>
          <a:xfrm>
            <a:off x="504000" y="5165280"/>
            <a:ext cx="2342880" cy="38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6240" cy="94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66240" cy="328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0"/>
          </p:nvPr>
        </p:nvSpPr>
        <p:spPr>
          <a:xfrm>
            <a:off x="3447360" y="5165280"/>
            <a:ext cx="3189600" cy="38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1"/>
          </p:nvPr>
        </p:nvSpPr>
        <p:spPr>
          <a:xfrm>
            <a:off x="7227360" y="5165280"/>
            <a:ext cx="2342880" cy="38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166C3AC-F998-4E0F-BE8F-22FBC881136E}" type="slidenum"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dt" idx="12"/>
          </p:nvPr>
        </p:nvSpPr>
        <p:spPr>
          <a:xfrm>
            <a:off x="504000" y="5165280"/>
            <a:ext cx="2342880" cy="38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6240" cy="94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66240" cy="328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ftr" idx="13"/>
          </p:nvPr>
        </p:nvSpPr>
        <p:spPr>
          <a:xfrm>
            <a:off x="4095360" y="5510160"/>
            <a:ext cx="1271160" cy="11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  <a:defRPr b="0" lang="en-IN" sz="600" strike="noStrike" u="none">
                <a:solidFill>
                  <a:srgbClr val="333e4e"/>
                </a:solidFill>
                <a:uFillTx/>
                <a:latin typeface="Arial MT"/>
              </a:defRPr>
            </a:lvl1pPr>
          </a:lstStyle>
          <a:p>
            <a:pPr marL="12600" indent="0"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r>
              <a:rPr b="0" lang="en-IN" sz="600" strike="noStrike" u="none">
                <a:solidFill>
                  <a:srgbClr val="333e4e"/>
                </a:solidFill>
                <a:uFillTx/>
                <a:latin typeface="Arial MT"/>
              </a:rPr>
              <a:t>&lt;footer&gt;</a:t>
            </a:r>
            <a:endParaRPr b="0" lang="en-US" sz="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sldNum" idx="14"/>
          </p:nvPr>
        </p:nvSpPr>
        <p:spPr>
          <a:xfrm>
            <a:off x="9056880" y="5309280"/>
            <a:ext cx="280440" cy="22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2400" indent="0">
              <a:lnSpc>
                <a:spcPct val="100000"/>
              </a:lnSpc>
              <a:spcBef>
                <a:spcPts val="85"/>
              </a:spcBef>
              <a:buNone/>
              <a:tabLst>
                <a:tab algn="l" pos="0"/>
              </a:tabLst>
              <a:defRPr b="0" lang="en-IN" sz="1200" spc="-51" strike="noStrike" u="none">
                <a:solidFill>
                  <a:schemeClr val="dk1"/>
                </a:solidFill>
                <a:uFillTx/>
                <a:latin typeface="Arial MT"/>
              </a:defRPr>
            </a:lvl1pPr>
          </a:lstStyle>
          <a:p>
            <a:pPr marL="122400" indent="0">
              <a:lnSpc>
                <a:spcPct val="100000"/>
              </a:lnSpc>
              <a:spcBef>
                <a:spcPts val="85"/>
              </a:spcBef>
              <a:buNone/>
              <a:tabLst>
                <a:tab algn="l" pos="0"/>
              </a:tabLst>
            </a:pPr>
            <a:fld id="{32D4E01A-CE9C-48B7-BD18-09ECA7280F36}" type="slidenum">
              <a:rPr b="0" lang="en-IN" sz="1200" spc="-51" strike="noStrike" u="none">
                <a:solidFill>
                  <a:schemeClr val="dk1"/>
                </a:solidFill>
                <a:uFillTx/>
                <a:latin typeface="Arial MT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dt" idx="15"/>
          </p:nvPr>
        </p:nvSpPr>
        <p:spPr>
          <a:xfrm>
            <a:off x="504000" y="5273280"/>
            <a:ext cx="2313000" cy="27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6240" cy="94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66240" cy="328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ftr" idx="16"/>
          </p:nvPr>
        </p:nvSpPr>
        <p:spPr>
          <a:xfrm>
            <a:off x="4095360" y="5510160"/>
            <a:ext cx="1271160" cy="11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  <a:defRPr b="0" lang="en-IN" sz="600" strike="noStrike" u="none">
                <a:solidFill>
                  <a:srgbClr val="333e4e"/>
                </a:solidFill>
                <a:uFillTx/>
                <a:latin typeface="Arial MT"/>
              </a:defRPr>
            </a:lvl1pPr>
          </a:lstStyle>
          <a:p>
            <a:pPr marL="12600" indent="0">
              <a:lnSpc>
                <a:spcPct val="100000"/>
              </a:lnSpc>
              <a:spcBef>
                <a:spcPts val="40"/>
              </a:spcBef>
              <a:buNone/>
              <a:tabLst>
                <a:tab algn="l" pos="0"/>
              </a:tabLst>
            </a:pPr>
            <a:r>
              <a:rPr b="0" lang="en-IN" sz="600" strike="noStrike" u="none">
                <a:solidFill>
                  <a:srgbClr val="333e4e"/>
                </a:solidFill>
                <a:uFillTx/>
                <a:latin typeface="Arial MT"/>
              </a:rPr>
              <a:t>&lt;footer&gt;</a:t>
            </a:r>
            <a:endParaRPr b="0" lang="en-US" sz="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sldNum" idx="17"/>
          </p:nvPr>
        </p:nvSpPr>
        <p:spPr>
          <a:xfrm>
            <a:off x="9056880" y="5309280"/>
            <a:ext cx="280440" cy="22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2400" indent="0">
              <a:lnSpc>
                <a:spcPct val="100000"/>
              </a:lnSpc>
              <a:spcBef>
                <a:spcPts val="85"/>
              </a:spcBef>
              <a:buNone/>
              <a:tabLst>
                <a:tab algn="l" pos="0"/>
              </a:tabLst>
              <a:defRPr b="0" lang="en-IN" sz="1200" spc="-51" strike="noStrike" u="none">
                <a:solidFill>
                  <a:schemeClr val="dk1"/>
                </a:solidFill>
                <a:uFillTx/>
                <a:latin typeface="Arial MT"/>
              </a:defRPr>
            </a:lvl1pPr>
          </a:lstStyle>
          <a:p>
            <a:pPr marL="122400" indent="0">
              <a:lnSpc>
                <a:spcPct val="100000"/>
              </a:lnSpc>
              <a:spcBef>
                <a:spcPts val="85"/>
              </a:spcBef>
              <a:buNone/>
              <a:tabLst>
                <a:tab algn="l" pos="0"/>
              </a:tabLst>
            </a:pPr>
            <a:fld id="{7380F9AF-8483-48D0-BC65-F6C990F6AEB8}" type="slidenum">
              <a:rPr b="0" lang="en-IN" sz="1200" spc="-51" strike="noStrike" u="none">
                <a:solidFill>
                  <a:schemeClr val="dk1"/>
                </a:solidFill>
                <a:uFillTx/>
                <a:latin typeface="Arial MT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dt" idx="18"/>
          </p:nvPr>
        </p:nvSpPr>
        <p:spPr>
          <a:xfrm>
            <a:off x="504000" y="5273280"/>
            <a:ext cx="2313000" cy="27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6240" cy="94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66240" cy="328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19"/>
          </p:nvPr>
        </p:nvSpPr>
        <p:spPr>
          <a:xfrm>
            <a:off x="3427200" y="5273280"/>
            <a:ext cx="3222000" cy="2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0"/>
          </p:nvPr>
        </p:nvSpPr>
        <p:spPr>
          <a:xfrm>
            <a:off x="9432360" y="5260680"/>
            <a:ext cx="281880" cy="21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3120" indent="0">
              <a:lnSpc>
                <a:spcPts val="1426"/>
              </a:lnSpc>
              <a:buNone/>
              <a:tabLst>
                <a:tab algn="l" pos="0"/>
              </a:tabLst>
              <a:defRPr b="0" lang="en-IN" sz="1200" spc="-51" strike="noStrike" u="none">
                <a:solidFill>
                  <a:schemeClr val="dk1"/>
                </a:solidFill>
                <a:uFillTx/>
                <a:latin typeface="Arial"/>
              </a:defRPr>
            </a:lvl1pPr>
          </a:lstStyle>
          <a:p>
            <a:pPr marL="123120" indent="0">
              <a:lnSpc>
                <a:spcPts val="1426"/>
              </a:lnSpc>
              <a:buNone/>
              <a:tabLst>
                <a:tab algn="l" pos="0"/>
              </a:tabLst>
            </a:pPr>
            <a:fld id="{F56AA53E-665B-427E-8FDD-DE9D546A74D6}" type="slidenum">
              <a:rPr b="0" lang="en-IN" sz="1200" spc="-51" strike="noStrike" u="none">
                <a:solidFill>
                  <a:schemeClr val="dk1"/>
                </a:solidFill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dt" idx="21"/>
          </p:nvPr>
        </p:nvSpPr>
        <p:spPr>
          <a:xfrm>
            <a:off x="504000" y="5273280"/>
            <a:ext cx="2314440" cy="2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6240" cy="94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66240" cy="328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22"/>
          </p:nvPr>
        </p:nvSpPr>
        <p:spPr>
          <a:xfrm>
            <a:off x="3427200" y="5273280"/>
            <a:ext cx="3222000" cy="2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23"/>
          </p:nvPr>
        </p:nvSpPr>
        <p:spPr>
          <a:xfrm>
            <a:off x="9432360" y="5260680"/>
            <a:ext cx="281880" cy="21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3120" indent="0">
              <a:lnSpc>
                <a:spcPts val="1426"/>
              </a:lnSpc>
              <a:buNone/>
              <a:tabLst>
                <a:tab algn="l" pos="0"/>
              </a:tabLst>
              <a:defRPr b="0" lang="en-IN" sz="1200" spc="-51" strike="noStrike" u="none">
                <a:solidFill>
                  <a:schemeClr val="dk1"/>
                </a:solidFill>
                <a:uFillTx/>
                <a:latin typeface="Arial"/>
              </a:defRPr>
            </a:lvl1pPr>
          </a:lstStyle>
          <a:p>
            <a:pPr marL="123120" indent="0">
              <a:lnSpc>
                <a:spcPts val="1426"/>
              </a:lnSpc>
              <a:buNone/>
              <a:tabLst>
                <a:tab algn="l" pos="0"/>
              </a:tabLst>
            </a:pPr>
            <a:fld id="{4D3B9381-967B-4841-830F-661379125E3A}" type="slidenum">
              <a:rPr b="0" lang="en-IN" sz="1200" spc="-51" strike="noStrike" u="none">
                <a:solidFill>
                  <a:schemeClr val="dk1"/>
                </a:solidFill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dt" idx="24"/>
          </p:nvPr>
        </p:nvSpPr>
        <p:spPr>
          <a:xfrm>
            <a:off x="504000" y="5273280"/>
            <a:ext cx="2314440" cy="2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  <p:sldLayoutId id="2147483664" r:id="rId3"/>
    <p:sldLayoutId id="2147483665" r:id="rId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6240" cy="94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66240" cy="328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ftr" idx="25"/>
          </p:nvPr>
        </p:nvSpPr>
        <p:spPr>
          <a:xfrm>
            <a:off x="4523400" y="5508360"/>
            <a:ext cx="77904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>
              <a:lnSpc>
                <a:spcPct val="100000"/>
              </a:lnSpc>
              <a:spcBef>
                <a:spcPts val="26"/>
              </a:spcBef>
              <a:buNone/>
              <a:tabLst>
                <a:tab algn="l" pos="0"/>
              </a:tabLst>
              <a:defRPr b="0" lang="en-US" sz="800" strike="noStrike" u="none">
                <a:solidFill>
                  <a:srgbClr val="333e50"/>
                </a:solidFill>
                <a:uFillTx/>
                <a:latin typeface="Arial MT"/>
              </a:defRPr>
            </a:lvl1pPr>
          </a:lstStyle>
          <a:p>
            <a:pPr marL="12600" indent="0">
              <a:lnSpc>
                <a:spcPct val="100000"/>
              </a:lnSpc>
              <a:spcBef>
                <a:spcPts val="26"/>
              </a:spcBef>
              <a:buNone/>
              <a:tabLst>
                <a:tab algn="l" pos="0"/>
              </a:tabLst>
            </a:pPr>
            <a:r>
              <a:rPr b="0" lang="en-US" sz="800" strike="noStrike" u="none">
                <a:solidFill>
                  <a:srgbClr val="333e50"/>
                </a:solidFill>
                <a:uFillTx/>
                <a:latin typeface="Arial MT"/>
              </a:rPr>
              <a:t>&lt;footer&gt;</a:t>
            </a:r>
            <a:endParaRPr b="0" lang="en-US" sz="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sldNum" idx="26"/>
          </p:nvPr>
        </p:nvSpPr>
        <p:spPr>
          <a:xfrm>
            <a:off x="9056160" y="5304600"/>
            <a:ext cx="28368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3120" indent="0">
              <a:lnSpc>
                <a:spcPts val="1426"/>
              </a:lnSpc>
              <a:buNone/>
              <a:tabLst>
                <a:tab algn="l" pos="0"/>
              </a:tabLst>
              <a:defRPr b="0" lang="en-US" sz="1200" spc="-51" strike="noStrike" u="none">
                <a:solidFill>
                  <a:schemeClr val="dk1"/>
                </a:solidFill>
                <a:uFillTx/>
                <a:latin typeface="Arial MT"/>
              </a:defRPr>
            </a:lvl1pPr>
          </a:lstStyle>
          <a:p>
            <a:pPr marL="123120" indent="0">
              <a:lnSpc>
                <a:spcPts val="1426"/>
              </a:lnSpc>
              <a:buNone/>
              <a:tabLst>
                <a:tab algn="l" pos="0"/>
              </a:tabLst>
            </a:pPr>
            <a:fld id="{E55D7647-B69C-4A6E-A49C-F546B2407A61}" type="slidenum">
              <a:rPr b="0" lang="en-US" sz="1200" spc="-51" strike="noStrike" u="none">
                <a:solidFill>
                  <a:schemeClr val="dk1"/>
                </a:solidFill>
                <a:uFillTx/>
                <a:latin typeface="Arial MT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dt" idx="27"/>
          </p:nvPr>
        </p:nvSpPr>
        <p:spPr>
          <a:xfrm>
            <a:off x="504000" y="5273280"/>
            <a:ext cx="2315880" cy="2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slideLayout" Target="../slideLayouts/slideLayout10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slideLayout" Target="../slideLayouts/slideLayout10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10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hyperlink" Target="file:///C:/" TargetMode="External"/><Relationship Id="rId2" Type="http://schemas.openxmlformats.org/officeDocument/2006/relationships/image" Target="../media/image37.png"/><Relationship Id="rId3" Type="http://schemas.openxmlformats.org/officeDocument/2006/relationships/slideLayout" Target="../slideLayouts/slideLayout10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slideLayout" Target="../slideLayouts/slideLayout10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slideLayout" Target="../slideLayouts/slideLayout10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slideLayout" Target="../slideLayouts/slideLayout10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image" Target="../media/image56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Relationship Id="rId8" Type="http://schemas.openxmlformats.org/officeDocument/2006/relationships/slideLayout" Target="../slideLayouts/slideLayout1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62.png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Relationship Id="rId7" Type="http://schemas.openxmlformats.org/officeDocument/2006/relationships/slideLayout" Target="../slideLayouts/slideLayout10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68.png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slideLayout" Target="../slideLayouts/slideLayout10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73.png"/><Relationship Id="rId2" Type="http://schemas.openxmlformats.org/officeDocument/2006/relationships/image" Target="../media/image74.png"/><Relationship Id="rId3" Type="http://schemas.openxmlformats.org/officeDocument/2006/relationships/image" Target="../media/image75.png"/><Relationship Id="rId4" Type="http://schemas.openxmlformats.org/officeDocument/2006/relationships/slideLayout" Target="../slideLayouts/slideLayout10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76.png"/><Relationship Id="rId2" Type="http://schemas.openxmlformats.org/officeDocument/2006/relationships/image" Target="../media/image77.png"/><Relationship Id="rId3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540000" y="720000"/>
            <a:ext cx="9066240" cy="155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4000" strike="noStrike" u="none">
                <a:solidFill>
                  <a:schemeClr val="dk1"/>
                </a:solidFill>
                <a:uFillTx/>
                <a:latin typeface="Mononoki Nerd Font"/>
                <a:ea typeface="Arial"/>
              </a:rPr>
              <a:t>Advanced Programming</a:t>
            </a:r>
            <a:r>
              <a:rPr b="0" lang="en-US" sz="4000" strike="noStrike" u="none">
                <a:solidFill>
                  <a:srgbClr val="000000"/>
                </a:solidFill>
                <a:uFillTx/>
                <a:latin typeface="Mononoki Nerd Font"/>
                <a:ea typeface="Arial"/>
              </a:rPr>
              <a:t> </a:t>
            </a:r>
            <a:br>
              <a:rPr sz="4000"/>
            </a:br>
            <a:r>
              <a:rPr b="1" lang="en-US" sz="4000" strike="noStrike" u="none">
                <a:solidFill>
                  <a:schemeClr val="dk1"/>
                </a:solidFill>
                <a:uFillTx/>
                <a:latin typeface="Mononoki Nerd Font"/>
                <a:ea typeface="Arial"/>
              </a:rPr>
              <a:t>CSE 201</a:t>
            </a:r>
            <a:r>
              <a:rPr b="0" lang="en-US" sz="4000" strike="noStrike" u="none">
                <a:solidFill>
                  <a:srgbClr val="000000"/>
                </a:solidFill>
                <a:uFillTx/>
                <a:latin typeface="Mononoki Nerd Font"/>
                <a:ea typeface="Arial"/>
              </a:rPr>
              <a:t> </a:t>
            </a:r>
            <a:br>
              <a:rPr sz="4000"/>
            </a:br>
            <a:r>
              <a:rPr b="1" lang="en-US" sz="2800" strike="noStrike" u="none">
                <a:solidFill>
                  <a:schemeClr val="dk1"/>
                </a:solidFill>
                <a:uFillTx/>
                <a:latin typeface="Mononoki Nerd Font"/>
                <a:ea typeface="Arial"/>
              </a:rPr>
              <a:t>Instructor: Sambuddho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66240" cy="328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Mononoki Nerd Font"/>
                <a:ea typeface="Arial"/>
              </a:rPr>
              <a:t>               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Mononoki Nerd Font"/>
                <a:ea typeface="Arial"/>
              </a:rPr>
              <a:t>	</a:t>
            </a:r>
            <a:r>
              <a:rPr b="0" lang="en-US" sz="2400" strike="noStrike" u="none">
                <a:solidFill>
                  <a:schemeClr val="dk1"/>
                </a:solidFill>
                <a:uFillTx/>
                <a:latin typeface="Mononoki Nerd Font"/>
                <a:ea typeface="Arial"/>
              </a:rPr>
              <a:t>	</a:t>
            </a:r>
            <a:r>
              <a:rPr b="0" lang="en-US" sz="2400" strike="noStrike" u="none">
                <a:solidFill>
                  <a:schemeClr val="dk1"/>
                </a:solidFill>
                <a:uFillTx/>
                <a:latin typeface="Mononoki Nerd Font"/>
                <a:ea typeface="Arial"/>
              </a:rPr>
              <a:t> </a:t>
            </a:r>
            <a:r>
              <a:rPr b="0" lang="en-US" sz="2400" strike="noStrike" u="none">
                <a:solidFill>
                  <a:schemeClr val="dk1"/>
                </a:solidFill>
                <a:uFillTx/>
                <a:latin typeface="Mononoki Nerd Font"/>
                <a:ea typeface="Arial"/>
              </a:rPr>
              <a:t>(Semester: Monsoon 2024)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Mononoki Nerd Font"/>
                <a:ea typeface="Arial"/>
              </a:rPr>
              <a:t>	</a:t>
            </a:r>
            <a:r>
              <a:rPr b="0" lang="en-US" sz="2400" strike="noStrike" u="none">
                <a:solidFill>
                  <a:schemeClr val="dk1"/>
                </a:solidFill>
                <a:uFillTx/>
                <a:latin typeface="Mononoki Nerd Font"/>
                <a:ea typeface="Arial"/>
              </a:rPr>
              <a:t>  </a:t>
            </a:r>
            <a:r>
              <a:rPr b="0" lang="en-US" sz="2400" strike="noStrike" u="none">
                <a:solidFill>
                  <a:schemeClr val="dk1"/>
                </a:solidFill>
                <a:uFillTx/>
                <a:latin typeface="Mononoki Nerd Font"/>
                <a:ea typeface="Arial"/>
              </a:rPr>
              <a:t>Week 10 – File Streams and I/O Operations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393480" y="321840"/>
            <a:ext cx="9457920" cy="6782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1" lang="en-US" sz="3600" strike="noStrike" u="none">
                <a:solidFill>
                  <a:schemeClr val="dk1"/>
                </a:solidFill>
                <a:uFillTx/>
                <a:latin typeface="Mononoki Nerd Font Mono"/>
              </a:rPr>
              <a:t>Reading and Writing to files.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object 3"/>
          <p:cNvSpPr/>
          <p:nvPr/>
        </p:nvSpPr>
        <p:spPr>
          <a:xfrm>
            <a:off x="460440" y="1226160"/>
            <a:ext cx="5364000" cy="3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>
              <a:lnSpc>
                <a:spcPct val="100000"/>
              </a:lnSpc>
              <a:spcBef>
                <a:spcPts val="99"/>
              </a:spcBef>
              <a:tabLst>
                <a:tab algn="l" pos="414720"/>
              </a:tabLst>
            </a:pP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" name="object 4"/>
          <p:cNvSpPr/>
          <p:nvPr/>
        </p:nvSpPr>
        <p:spPr>
          <a:xfrm>
            <a:off x="360000" y="1152720"/>
            <a:ext cx="7442640" cy="140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Mononoki Nerd Font Mono"/>
              </a:rPr>
              <a:t>Input stream: Used to read sequence of bytes (could be anything ``representable’’ as a file).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tabLst>
                <a:tab algn="l" pos="41472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Mononoki Nerd Font Mono"/>
                <a:ea typeface="Microsoft YaHei"/>
              </a:rPr>
              <a:t>Output stream: Used to write sequence of bytes (could be anything ``representable’’ as a file).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41000" y="0"/>
            <a:ext cx="9457920" cy="6782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uFillTx/>
                <a:latin typeface="Mononoki Nerd Font Mono"/>
              </a:rPr>
              <a:t>Reading and Writing to files.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" name="object 9"/>
          <p:cNvSpPr/>
          <p:nvPr/>
        </p:nvSpPr>
        <p:spPr>
          <a:xfrm>
            <a:off x="460440" y="1226160"/>
            <a:ext cx="5364000" cy="3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" name="object 10"/>
          <p:cNvSpPr/>
          <p:nvPr/>
        </p:nvSpPr>
        <p:spPr>
          <a:xfrm>
            <a:off x="360000" y="470160"/>
            <a:ext cx="7442640" cy="125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Mononoki Nerd Font Mono"/>
              </a:rPr>
              <a:t>InputStream : abstract int read()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Mononoki Nerd Font Mono"/>
              </a:rPr>
              <a:t>            </a:t>
            </a:r>
            <a:r>
              <a:rPr b="0" lang="en-US" sz="1200" strike="noStrike" u="none">
                <a:solidFill>
                  <a:srgbClr val="000000"/>
                </a:solidFill>
                <a:uFillTx/>
                <a:latin typeface="Mononoki Nerd Font Mono"/>
              </a:rPr>
              <a:t>[ Return values: -1 if error, or the byte read (upcasted to an int    {4-bytes}). ]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tabLst>
                <a:tab algn="l" pos="41472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Mononoki Nerd Font Mono"/>
              </a:rPr>
              <a:t>OutputStream : abstract void write(int b)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Mononoki Nerd Font Mono"/>
              </a:rPr>
              <a:t>              </a:t>
            </a:r>
            <a:r>
              <a:rPr b="0" lang="en-US" sz="1200" strike="noStrike" u="none">
                <a:solidFill>
                  <a:srgbClr val="000000"/>
                </a:solidFill>
                <a:uFillTx/>
                <a:latin typeface="Mononoki Nerd Font Mono"/>
              </a:rPr>
              <a:t>[ Write a single byte (upcasted as an int). ]S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3" name="" descr=""/>
          <p:cNvPicPr/>
          <p:nvPr/>
        </p:nvPicPr>
        <p:blipFill>
          <a:blip r:embed="rId1"/>
          <a:stretch/>
        </p:blipFill>
        <p:spPr>
          <a:xfrm>
            <a:off x="228960" y="1950120"/>
            <a:ext cx="3549960" cy="1108800"/>
          </a:xfrm>
          <a:prstGeom prst="rect">
            <a:avLst/>
          </a:prstGeom>
          <a:ln w="0">
            <a:noFill/>
          </a:ln>
        </p:spPr>
      </p:pic>
      <p:pic>
        <p:nvPicPr>
          <p:cNvPr id="74" name="" descr=""/>
          <p:cNvPicPr/>
          <p:nvPr/>
        </p:nvPicPr>
        <p:blipFill>
          <a:blip r:embed="rId2"/>
          <a:stretch/>
        </p:blipFill>
        <p:spPr>
          <a:xfrm>
            <a:off x="264600" y="3060000"/>
            <a:ext cx="3791160" cy="2518920"/>
          </a:xfrm>
          <a:prstGeom prst="rect">
            <a:avLst/>
          </a:prstGeom>
          <a:ln w="0">
            <a:noFill/>
          </a:ln>
        </p:spPr>
      </p:pic>
      <p:pic>
        <p:nvPicPr>
          <p:cNvPr id="75" name="" descr=""/>
          <p:cNvPicPr/>
          <p:nvPr/>
        </p:nvPicPr>
        <p:blipFill>
          <a:blip r:embed="rId3"/>
          <a:stretch/>
        </p:blipFill>
        <p:spPr>
          <a:xfrm>
            <a:off x="5220000" y="1969560"/>
            <a:ext cx="4678920" cy="729360"/>
          </a:xfrm>
          <a:prstGeom prst="rect">
            <a:avLst/>
          </a:prstGeom>
          <a:ln w="0">
            <a:noFill/>
          </a:ln>
        </p:spPr>
      </p:pic>
      <p:pic>
        <p:nvPicPr>
          <p:cNvPr id="76" name="" descr=""/>
          <p:cNvPicPr/>
          <p:nvPr/>
        </p:nvPicPr>
        <p:blipFill>
          <a:blip r:embed="rId4"/>
          <a:stretch/>
        </p:blipFill>
        <p:spPr>
          <a:xfrm>
            <a:off x="5220000" y="2880000"/>
            <a:ext cx="4678920" cy="2175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360000" y="-222120"/>
            <a:ext cx="9066240" cy="94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uFillTx/>
                <a:latin typeface="Mononoki Nerd Font Mono"/>
              </a:rPr>
              <a:t>I/O Stream (plus Reader/Writer) Hierarchy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8" name="" descr=""/>
          <p:cNvPicPr/>
          <p:nvPr/>
        </p:nvPicPr>
        <p:blipFill>
          <a:blip r:embed="rId1"/>
          <a:stretch/>
        </p:blipFill>
        <p:spPr>
          <a:xfrm>
            <a:off x="2559960" y="360000"/>
            <a:ext cx="5178960" cy="5223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360000" y="-222120"/>
            <a:ext cx="9066240" cy="94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uFillTx/>
                <a:latin typeface="Mononoki Nerd Font Mono"/>
              </a:rPr>
              <a:t>I/O Stream (plus Reader/Writer) Hierarchy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360000" y="540000"/>
            <a:ext cx="4138920" cy="2752920"/>
          </a:xfrm>
          <a:prstGeom prst="rect">
            <a:avLst/>
          </a:prstGeom>
          <a:ln w="0">
            <a:noFill/>
          </a:ln>
        </p:spPr>
      </p:pic>
      <p:pic>
        <p:nvPicPr>
          <p:cNvPr id="81" name="" descr=""/>
          <p:cNvPicPr/>
          <p:nvPr/>
        </p:nvPicPr>
        <p:blipFill>
          <a:blip r:embed="rId2"/>
          <a:stretch/>
        </p:blipFill>
        <p:spPr>
          <a:xfrm>
            <a:off x="4500000" y="601920"/>
            <a:ext cx="4499640" cy="837000"/>
          </a:xfrm>
          <a:prstGeom prst="rect">
            <a:avLst/>
          </a:prstGeom>
          <a:ln w="0">
            <a:noFill/>
          </a:ln>
        </p:spPr>
      </p:pic>
      <p:pic>
        <p:nvPicPr>
          <p:cNvPr id="82" name="" descr=""/>
          <p:cNvPicPr/>
          <p:nvPr/>
        </p:nvPicPr>
        <p:blipFill>
          <a:blip r:embed="rId3"/>
          <a:stretch/>
        </p:blipFill>
        <p:spPr>
          <a:xfrm>
            <a:off x="7380000" y="1540800"/>
            <a:ext cx="1603800" cy="798120"/>
          </a:xfrm>
          <a:prstGeom prst="rect">
            <a:avLst/>
          </a:prstGeom>
          <a:ln w="0">
            <a:noFill/>
          </a:ln>
        </p:spPr>
      </p:pic>
      <p:pic>
        <p:nvPicPr>
          <p:cNvPr id="83" name="" descr=""/>
          <p:cNvPicPr/>
          <p:nvPr/>
        </p:nvPicPr>
        <p:blipFill>
          <a:blip r:embed="rId4"/>
          <a:stretch/>
        </p:blipFill>
        <p:spPr>
          <a:xfrm>
            <a:off x="4728240" y="2256120"/>
            <a:ext cx="4450680" cy="982800"/>
          </a:xfrm>
          <a:prstGeom prst="rect">
            <a:avLst/>
          </a:prstGeom>
          <a:ln w="0">
            <a:noFill/>
          </a:ln>
        </p:spPr>
      </p:pic>
      <p:pic>
        <p:nvPicPr>
          <p:cNvPr id="84" name="" descr=""/>
          <p:cNvPicPr/>
          <p:nvPr/>
        </p:nvPicPr>
        <p:blipFill>
          <a:blip r:embed="rId5"/>
          <a:stretch/>
        </p:blipFill>
        <p:spPr>
          <a:xfrm>
            <a:off x="3324600" y="3420000"/>
            <a:ext cx="4954320" cy="215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360000" y="-180000"/>
            <a:ext cx="9066240" cy="94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uFillTx/>
                <a:latin typeface="Mononoki Nerd Font Mono"/>
              </a:rPr>
              <a:t>Reading Writing from Files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656640" y="960480"/>
            <a:ext cx="8522280" cy="137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Mononoki Nerd Font Mono"/>
              </a:rPr>
              <a:t>FileInputStream – Read bytes from file. 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Mononoki Nerd Font Mono"/>
              </a:rPr>
              <a:t>FileOutputStream – Write bytes to file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87" name="" descr=""/>
          <p:cNvPicPr/>
          <p:nvPr/>
        </p:nvPicPr>
        <p:blipFill>
          <a:blip r:embed="rId1"/>
          <a:stretch/>
        </p:blipFill>
        <p:spPr>
          <a:xfrm>
            <a:off x="475560" y="2139480"/>
            <a:ext cx="4563360" cy="351720"/>
          </a:xfrm>
          <a:prstGeom prst="rect">
            <a:avLst/>
          </a:prstGeom>
          <a:ln w="0">
            <a:noFill/>
          </a:ln>
        </p:spPr>
      </p:pic>
      <p:pic>
        <p:nvPicPr>
          <p:cNvPr id="88" name="" descr=""/>
          <p:cNvPicPr/>
          <p:nvPr/>
        </p:nvPicPr>
        <p:blipFill>
          <a:blip r:embed="rId2"/>
          <a:stretch/>
        </p:blipFill>
        <p:spPr>
          <a:xfrm>
            <a:off x="540000" y="2831760"/>
            <a:ext cx="2341800" cy="227160"/>
          </a:xfrm>
          <a:prstGeom prst="rect">
            <a:avLst/>
          </a:prstGeom>
          <a:ln w="0">
            <a:noFill/>
          </a:ln>
        </p:spPr>
      </p:pic>
      <p:pic>
        <p:nvPicPr>
          <p:cNvPr id="89" name="" descr=""/>
          <p:cNvPicPr/>
          <p:nvPr/>
        </p:nvPicPr>
        <p:blipFill>
          <a:blip r:embed="rId3"/>
          <a:stretch/>
        </p:blipFill>
        <p:spPr>
          <a:xfrm>
            <a:off x="717120" y="3420000"/>
            <a:ext cx="2341800" cy="465120"/>
          </a:xfrm>
          <a:prstGeom prst="rect">
            <a:avLst/>
          </a:prstGeom>
          <a:ln w="0">
            <a:noFill/>
          </a:ln>
        </p:spPr>
      </p:pic>
      <p:pic>
        <p:nvPicPr>
          <p:cNvPr id="90" name="" descr=""/>
          <p:cNvPicPr/>
          <p:nvPr/>
        </p:nvPicPr>
        <p:blipFill>
          <a:blip r:embed="rId4"/>
          <a:stretch/>
        </p:blipFill>
        <p:spPr>
          <a:xfrm>
            <a:off x="360000" y="4680000"/>
            <a:ext cx="3736440" cy="599400"/>
          </a:xfrm>
          <a:prstGeom prst="rect">
            <a:avLst/>
          </a:prstGeom>
          <a:ln w="0">
            <a:noFill/>
          </a:ln>
        </p:spPr>
      </p:pic>
      <p:pic>
        <p:nvPicPr>
          <p:cNvPr id="91" name="" descr=""/>
          <p:cNvPicPr/>
          <p:nvPr/>
        </p:nvPicPr>
        <p:blipFill>
          <a:blip r:embed="rId5"/>
          <a:stretch/>
        </p:blipFill>
        <p:spPr>
          <a:xfrm>
            <a:off x="6597720" y="4680000"/>
            <a:ext cx="2941200" cy="591840"/>
          </a:xfrm>
          <a:prstGeom prst="rect">
            <a:avLst/>
          </a:prstGeom>
          <a:ln w="0">
            <a:noFill/>
          </a:ln>
        </p:spPr>
      </p:pic>
      <p:sp>
        <p:nvSpPr>
          <p:cNvPr id="92" name=""/>
          <p:cNvSpPr/>
          <p:nvPr/>
        </p:nvSpPr>
        <p:spPr>
          <a:xfrm>
            <a:off x="4680000" y="4860000"/>
            <a:ext cx="1440000" cy="360"/>
          </a:xfrm>
          <a:prstGeom prst="line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360000" y="-180000"/>
            <a:ext cx="9066240" cy="94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uFillTx/>
                <a:latin typeface="Mononoki Nerd Font Mono"/>
              </a:rPr>
              <a:t>Reading Writing from Files -- PushbackInputStream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94" name="" descr=""/>
          <p:cNvPicPr/>
          <p:nvPr/>
        </p:nvPicPr>
        <p:blipFill>
          <a:blip r:embed="rId1"/>
          <a:stretch/>
        </p:blipFill>
        <p:spPr>
          <a:xfrm>
            <a:off x="180000" y="762120"/>
            <a:ext cx="4437720" cy="865440"/>
          </a:xfrm>
          <a:prstGeom prst="rect">
            <a:avLst/>
          </a:prstGeom>
          <a:ln w="0">
            <a:noFill/>
          </a:ln>
        </p:spPr>
      </p:pic>
      <p:pic>
        <p:nvPicPr>
          <p:cNvPr id="95" name="" descr=""/>
          <p:cNvPicPr/>
          <p:nvPr/>
        </p:nvPicPr>
        <p:blipFill>
          <a:blip r:embed="rId2"/>
          <a:stretch/>
        </p:blipFill>
        <p:spPr>
          <a:xfrm>
            <a:off x="360000" y="1674000"/>
            <a:ext cx="1875240" cy="331920"/>
          </a:xfrm>
          <a:prstGeom prst="rect">
            <a:avLst/>
          </a:prstGeom>
          <a:ln w="0">
            <a:noFill/>
          </a:ln>
        </p:spPr>
      </p:pic>
      <p:pic>
        <p:nvPicPr>
          <p:cNvPr id="96" name="" descr=""/>
          <p:cNvPicPr/>
          <p:nvPr/>
        </p:nvPicPr>
        <p:blipFill>
          <a:blip r:embed="rId3"/>
          <a:stretch/>
        </p:blipFill>
        <p:spPr>
          <a:xfrm>
            <a:off x="360000" y="2186640"/>
            <a:ext cx="2427480" cy="255600"/>
          </a:xfrm>
          <a:prstGeom prst="rect">
            <a:avLst/>
          </a:prstGeom>
          <a:ln w="0">
            <a:noFill/>
          </a:ln>
        </p:spPr>
      </p:pic>
      <p:pic>
        <p:nvPicPr>
          <p:cNvPr id="97" name="" descr=""/>
          <p:cNvPicPr/>
          <p:nvPr/>
        </p:nvPicPr>
        <p:blipFill>
          <a:blip r:embed="rId4"/>
          <a:stretch/>
        </p:blipFill>
        <p:spPr>
          <a:xfrm>
            <a:off x="5940000" y="689040"/>
            <a:ext cx="3954600" cy="1109880"/>
          </a:xfrm>
          <a:prstGeom prst="rect">
            <a:avLst/>
          </a:prstGeom>
          <a:ln w="0">
            <a:noFill/>
          </a:ln>
        </p:spPr>
      </p:pic>
      <p:pic>
        <p:nvPicPr>
          <p:cNvPr id="98" name="" descr=""/>
          <p:cNvPicPr/>
          <p:nvPr/>
        </p:nvPicPr>
        <p:blipFill>
          <a:blip r:embed="rId5"/>
          <a:stretch/>
        </p:blipFill>
        <p:spPr>
          <a:xfrm>
            <a:off x="6031440" y="2160000"/>
            <a:ext cx="3867480" cy="1343160"/>
          </a:xfrm>
          <a:prstGeom prst="rect">
            <a:avLst/>
          </a:prstGeom>
          <a:ln w="0">
            <a:noFill/>
          </a:ln>
        </p:spPr>
      </p:pic>
      <p:pic>
        <p:nvPicPr>
          <p:cNvPr id="99" name="" descr=""/>
          <p:cNvPicPr/>
          <p:nvPr/>
        </p:nvPicPr>
        <p:blipFill>
          <a:blip r:embed="rId6"/>
          <a:stretch/>
        </p:blipFill>
        <p:spPr>
          <a:xfrm>
            <a:off x="5940000" y="3780000"/>
            <a:ext cx="3958920" cy="826200"/>
          </a:xfrm>
          <a:prstGeom prst="rect">
            <a:avLst/>
          </a:prstGeom>
          <a:ln w="0">
            <a:noFill/>
          </a:ln>
        </p:spPr>
      </p:pic>
      <p:pic>
        <p:nvPicPr>
          <p:cNvPr id="100" name="" descr=""/>
          <p:cNvPicPr/>
          <p:nvPr/>
        </p:nvPicPr>
        <p:blipFill>
          <a:blip r:embed="rId7"/>
          <a:stretch/>
        </p:blipFill>
        <p:spPr>
          <a:xfrm>
            <a:off x="5596200" y="4680000"/>
            <a:ext cx="4302720" cy="89892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8"/>
          <a:stretch/>
        </p:blipFill>
        <p:spPr>
          <a:xfrm>
            <a:off x="180000" y="3420000"/>
            <a:ext cx="5165640" cy="1771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360000" y="-222120"/>
            <a:ext cx="9066240" cy="94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uFillTx/>
                <a:latin typeface="Mononoki Nerd Font Mono"/>
              </a:rPr>
              <a:t>Text I/O – Reader/Writer 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03" name="" descr=""/>
          <p:cNvPicPr/>
          <p:nvPr/>
        </p:nvPicPr>
        <p:blipFill>
          <a:blip r:embed="rId1"/>
          <a:stretch/>
        </p:blipFill>
        <p:spPr>
          <a:xfrm>
            <a:off x="381600" y="720000"/>
            <a:ext cx="4138200" cy="3778920"/>
          </a:xfrm>
          <a:prstGeom prst="rect">
            <a:avLst/>
          </a:prstGeom>
          <a:ln w="0">
            <a:noFill/>
          </a:ln>
        </p:spPr>
      </p:pic>
      <p:pic>
        <p:nvPicPr>
          <p:cNvPr id="104" name="" descr=""/>
          <p:cNvPicPr/>
          <p:nvPr/>
        </p:nvPicPr>
        <p:blipFill>
          <a:blip r:embed="rId2"/>
          <a:stretch/>
        </p:blipFill>
        <p:spPr>
          <a:xfrm>
            <a:off x="5220000" y="213480"/>
            <a:ext cx="3686040" cy="325440"/>
          </a:xfrm>
          <a:prstGeom prst="rect">
            <a:avLst/>
          </a:prstGeom>
          <a:ln w="0">
            <a:noFill/>
          </a:ln>
        </p:spPr>
      </p:pic>
      <p:pic>
        <p:nvPicPr>
          <p:cNvPr id="105" name="" descr=""/>
          <p:cNvPicPr/>
          <p:nvPr/>
        </p:nvPicPr>
        <p:blipFill>
          <a:blip r:embed="rId3"/>
          <a:stretch/>
        </p:blipFill>
        <p:spPr>
          <a:xfrm>
            <a:off x="5040000" y="540000"/>
            <a:ext cx="4858920" cy="178920"/>
          </a:xfrm>
          <a:prstGeom prst="rect">
            <a:avLst/>
          </a:prstGeom>
          <a:ln w="0">
            <a:noFill/>
          </a:ln>
        </p:spPr>
      </p:pic>
      <p:pic>
        <p:nvPicPr>
          <p:cNvPr id="106" name="" descr=""/>
          <p:cNvPicPr/>
          <p:nvPr/>
        </p:nvPicPr>
        <p:blipFill>
          <a:blip r:embed="rId4"/>
          <a:stretch/>
        </p:blipFill>
        <p:spPr>
          <a:xfrm>
            <a:off x="4911120" y="1881720"/>
            <a:ext cx="4987800" cy="3697200"/>
          </a:xfrm>
          <a:prstGeom prst="rect">
            <a:avLst/>
          </a:prstGeom>
          <a:ln w="0">
            <a:noFill/>
          </a:ln>
        </p:spPr>
      </p:pic>
      <p:sp>
        <p:nvSpPr>
          <p:cNvPr id="107" name="object 1"/>
          <p:cNvSpPr/>
          <p:nvPr/>
        </p:nvSpPr>
        <p:spPr>
          <a:xfrm>
            <a:off x="4860000" y="720000"/>
            <a:ext cx="4382640" cy="1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Mononoki Nerd Font Mono"/>
              </a:rPr>
              <a:t>char b = (char) in.read(); 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360000" y="-222120"/>
            <a:ext cx="9066240" cy="94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uFillTx/>
                <a:latin typeface="Mononoki Nerd Font Mono"/>
              </a:rPr>
              <a:t>Text I/O – Buffered Reader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" name="object 2"/>
          <p:cNvSpPr/>
          <p:nvPr/>
        </p:nvSpPr>
        <p:spPr>
          <a:xfrm>
            <a:off x="180000" y="646920"/>
            <a:ext cx="9178920" cy="453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Mononoki Nerd Font Mono"/>
              </a:rPr>
              <a:t>Reader br = new BufferedReader(new BufferedInputStream(new InputStreamReader(“myfile”)));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tabLst>
                <a:tab algn="l" pos="414720"/>
              </a:tabLst>
            </a:pP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Mononoki Nerd Font Mono"/>
              </a:rPr>
              <a:t>String next_str = br.readline(); // Read an entire line.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tabLst>
                <a:tab algn="l" pos="414720"/>
              </a:tabLst>
            </a:pP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Mononoki Nerd Font Mono"/>
              </a:rPr>
              <a:t>char next_char = br.read(); // read single character.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Mononoki Nerd Font Mono"/>
              </a:rPr>
              <a:t>List&lt;String&gt; lines = Files.readAllLines(path, charset); // read multiple lines as strings for file path.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tabLst>
                <a:tab algn="l" pos="414720"/>
              </a:tabLst>
            </a:pP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Mononoki Nerd Font Mono"/>
              </a:rPr>
              <a:t>Alternative way to read lines of a file without the List&lt;&gt;.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tabLst>
                <a:tab algn="l" pos="414720"/>
              </a:tabLst>
            </a:pP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Mononoki Nerd Font Mono"/>
              </a:rPr>
              <a:t>InputStream inputStream = . . .;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Mononoki Nerd Font Mono"/>
              </a:rPr>
              <a:t> </a:t>
            </a:r>
            <a:r>
              <a:rPr b="0" lang="en-US" sz="1100" strike="noStrike" u="none">
                <a:solidFill>
                  <a:srgbClr val="000000"/>
                </a:solidFill>
                <a:uFillTx/>
                <a:latin typeface="Mononoki Nerd Font Mono"/>
              </a:rPr>
              <a:t>try (BufferedReader in = new BufferedReader(new InputStreamReader(inputStream,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Mononoki Nerd Font Mono"/>
              </a:rPr>
              <a:t> </a:t>
            </a:r>
            <a:r>
              <a:rPr b="0" lang="en-US" sz="1100" strike="noStrike" u="none">
                <a:solidFill>
                  <a:srgbClr val="000000"/>
                </a:solidFill>
                <a:uFillTx/>
                <a:latin typeface="Mononoki Nerd Font Mono"/>
              </a:rPr>
              <a:t>StandardCharsets.UTF_8)))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Mononoki Nerd Font Mono"/>
              </a:rPr>
              <a:t> </a:t>
            </a:r>
            <a:r>
              <a:rPr b="0" lang="en-US" sz="1100" strike="noStrike" u="none">
                <a:solidFill>
                  <a:srgbClr val="000000"/>
                </a:solidFill>
                <a:uFillTx/>
                <a:latin typeface="Mononoki Nerd Font Mono"/>
              </a:rPr>
              <a:t>{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Mononoki Nerd Font Mono"/>
              </a:rPr>
              <a:t>  </a:t>
            </a:r>
            <a:r>
              <a:rPr b="0" lang="en-US" sz="1100" strike="noStrike" u="none">
                <a:solidFill>
                  <a:srgbClr val="000000"/>
                </a:solidFill>
                <a:uFillTx/>
                <a:latin typeface="Mononoki Nerd Font Mono"/>
              </a:rPr>
              <a:t>String line;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Mononoki Nerd Font Mono"/>
              </a:rPr>
              <a:t>   </a:t>
            </a:r>
            <a:r>
              <a:rPr b="0" lang="en-US" sz="1100" strike="noStrike" u="none">
                <a:solidFill>
                  <a:srgbClr val="000000"/>
                </a:solidFill>
                <a:uFillTx/>
                <a:latin typeface="Mononoki Nerd Font Mono"/>
              </a:rPr>
              <a:t>while ((line = in.readLine()) != null)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Mononoki Nerd Font Mono"/>
              </a:rPr>
              <a:t>   </a:t>
            </a:r>
            <a:r>
              <a:rPr b="0" lang="en-US" sz="1100" strike="noStrike" u="none">
                <a:solidFill>
                  <a:srgbClr val="000000"/>
                </a:solidFill>
                <a:uFillTx/>
                <a:latin typeface="Mononoki Nerd Font Mono"/>
              </a:rPr>
              <a:t>{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Mononoki Nerd Font Mono"/>
              </a:rPr>
              <a:t>    </a:t>
            </a:r>
            <a:r>
              <a:rPr b="0" lang="en-US" sz="1100" strike="noStrike" u="none">
                <a:solidFill>
                  <a:srgbClr val="000000"/>
                </a:solidFill>
                <a:uFillTx/>
                <a:latin typeface="Mononoki Nerd Font Mono"/>
              </a:rPr>
              <a:t>do something with line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Mononoki Nerd Font Mono"/>
              </a:rPr>
              <a:t>   </a:t>
            </a:r>
            <a:r>
              <a:rPr b="0" lang="en-US" sz="1100" strike="noStrike" u="none">
                <a:solidFill>
                  <a:srgbClr val="000000"/>
                </a:solidFill>
                <a:uFillTx/>
                <a:latin typeface="Mononoki Nerd Font Mono"/>
              </a:rPr>
              <a:t>}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Mononoki Nerd Font Mono"/>
              </a:rPr>
              <a:t> </a:t>
            </a:r>
            <a:r>
              <a:rPr b="0" lang="en-US" sz="1100" strike="noStrike" u="none">
                <a:solidFill>
                  <a:srgbClr val="000000"/>
                </a:solidFill>
                <a:uFillTx/>
                <a:latin typeface="Mononoki Nerd Font Mono"/>
              </a:rPr>
              <a:t>}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tabLst>
                <a:tab algn="l" pos="414720"/>
              </a:tabLst>
            </a:pP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tabLst>
                <a:tab algn="l" pos="414720"/>
              </a:tabLst>
            </a:pP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tabLst>
                <a:tab algn="l" pos="414720"/>
              </a:tabLst>
            </a:pP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tabLst>
                <a:tab algn="l" pos="414720"/>
              </a:tabLst>
            </a:pP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Mononoki Nerd Font Mono"/>
              </a:rPr>
              <a:t> 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360000" y="-222120"/>
            <a:ext cx="9066240" cy="94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uFillTx/>
                <a:latin typeface="Mononoki Nerd Font Mono"/>
              </a:rPr>
              <a:t>Text I/O – File Writer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11" name="" descr=""/>
          <p:cNvPicPr/>
          <p:nvPr/>
        </p:nvPicPr>
        <p:blipFill>
          <a:blip r:embed="rId1"/>
          <a:stretch/>
        </p:blipFill>
        <p:spPr>
          <a:xfrm>
            <a:off x="360000" y="720000"/>
            <a:ext cx="3598920" cy="668880"/>
          </a:xfrm>
          <a:prstGeom prst="rect">
            <a:avLst/>
          </a:prstGeom>
          <a:ln w="0">
            <a:noFill/>
          </a:ln>
        </p:spPr>
      </p:pic>
      <p:pic>
        <p:nvPicPr>
          <p:cNvPr id="112" name="" descr=""/>
          <p:cNvPicPr/>
          <p:nvPr/>
        </p:nvPicPr>
        <p:blipFill>
          <a:blip r:embed="rId2"/>
          <a:stretch/>
        </p:blipFill>
        <p:spPr>
          <a:xfrm>
            <a:off x="360000" y="1800000"/>
            <a:ext cx="1798920" cy="962280"/>
          </a:xfrm>
          <a:prstGeom prst="rect">
            <a:avLst/>
          </a:prstGeom>
          <a:ln w="0">
            <a:noFill/>
          </a:ln>
        </p:spPr>
      </p:pic>
      <p:pic>
        <p:nvPicPr>
          <p:cNvPr id="113" name="" descr=""/>
          <p:cNvPicPr/>
          <p:nvPr/>
        </p:nvPicPr>
        <p:blipFill>
          <a:blip r:embed="rId3"/>
          <a:stretch/>
        </p:blipFill>
        <p:spPr>
          <a:xfrm>
            <a:off x="3420000" y="1980000"/>
            <a:ext cx="1391400" cy="263520"/>
          </a:xfrm>
          <a:prstGeom prst="rect">
            <a:avLst/>
          </a:prstGeom>
          <a:ln w="0">
            <a:noFill/>
          </a:ln>
        </p:spPr>
      </p:pic>
      <p:sp>
        <p:nvSpPr>
          <p:cNvPr id="114" name=""/>
          <p:cNvSpPr/>
          <p:nvPr/>
        </p:nvSpPr>
        <p:spPr>
          <a:xfrm>
            <a:off x="2160000" y="2160000"/>
            <a:ext cx="900000" cy="360"/>
          </a:xfrm>
          <a:prstGeom prst="line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"/>
          <p:cNvSpPr/>
          <p:nvPr/>
        </p:nvSpPr>
        <p:spPr>
          <a:xfrm>
            <a:off x="180000" y="-295200"/>
            <a:ext cx="9066240" cy="94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uFillTx/>
                <a:latin typeface="Mononoki Nerd Font Mono"/>
              </a:rPr>
              <a:t>Reading and Writing Binary Data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6" name="object 5"/>
          <p:cNvSpPr/>
          <p:nvPr/>
        </p:nvSpPr>
        <p:spPr>
          <a:xfrm>
            <a:off x="180000" y="646920"/>
            <a:ext cx="8458920" cy="360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i="1" lang="en-US" sz="1100" strike="noStrike" u="none">
                <a:solidFill>
                  <a:srgbClr val="000000"/>
                </a:solidFill>
                <a:uFillTx/>
                <a:latin typeface="Mononoki Nerd Font Mono"/>
              </a:rPr>
              <a:t>DataInput</a:t>
            </a:r>
            <a:r>
              <a:rPr b="0" lang="en-US" sz="1100" strike="noStrike" u="none">
                <a:solidFill>
                  <a:srgbClr val="000000"/>
                </a:solidFill>
                <a:uFillTx/>
                <a:latin typeface="Mononoki Nerd Font Mono"/>
              </a:rPr>
              <a:t> and </a:t>
            </a:r>
            <a:r>
              <a:rPr b="0" i="1" lang="en-US" sz="1100" strike="noStrike" u="none">
                <a:solidFill>
                  <a:srgbClr val="000000"/>
                </a:solidFill>
                <a:uFillTx/>
                <a:latin typeface="Mononoki Nerd Font Mono"/>
              </a:rPr>
              <a:t>DataOutput</a:t>
            </a:r>
            <a:r>
              <a:rPr b="0" lang="en-US" sz="1100" strike="noStrike" u="none">
                <a:solidFill>
                  <a:srgbClr val="000000"/>
                </a:solidFill>
                <a:uFillTx/>
                <a:latin typeface="Mononoki Nerd Font Mono"/>
              </a:rPr>
              <a:t> interfaces: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tabLst>
                <a:tab algn="l" pos="414720"/>
              </a:tabLst>
            </a:pP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Mononoki Nerd Font Mono"/>
                <a:ea typeface="Microsoft YaHei"/>
              </a:rPr>
              <a:t>readChars(), readByte(), readInt(), readShort(), readLong(), readFloat(), readDouble(), readChar(), readBoolean(), readUTF().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tabLst>
                <a:tab algn="l" pos="414720"/>
              </a:tabLst>
            </a:pP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tabLst>
                <a:tab algn="l" pos="414720"/>
              </a:tabLst>
            </a:pP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Mononoki Nerd Font Mono"/>
                <a:ea typeface="Microsoft YaHei"/>
              </a:rPr>
              <a:t>writeChars(), writeByte(), writeInt(), writeShort(), writeLong(), writeFloat(), writeDouble(), writeChar(), writeBoolean(), writeUTF().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tabLst>
                <a:tab algn="l" pos="414720"/>
              </a:tabLst>
            </a:pP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Mononoki Nerd Font Mono"/>
                <a:ea typeface="Microsoft YaHei"/>
              </a:rPr>
              <a:t>Using DataInputStream and DataOutputStream: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tabLst>
                <a:tab algn="l" pos="414720"/>
              </a:tabLst>
            </a:pP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Mononoki Nerd Font Mono"/>
                <a:ea typeface="Microsoft YaHei"/>
              </a:rPr>
              <a:t>DataInputStream in = new DataInputStream(new FileInputStream("employee.dat"));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Mononoki Nerd Font Mono"/>
                <a:ea typeface="Microsoft YaHei"/>
              </a:rPr>
              <a:t>DataOutputStream out = new DataOutputStream(new FileOutputStream("employee.dat"));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tabLst>
                <a:tab algn="l" pos="414720"/>
              </a:tabLst>
            </a:pP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tabLst>
                <a:tab algn="l" pos="414720"/>
              </a:tabLst>
            </a:pP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tabLst>
                <a:tab algn="l" pos="414720"/>
              </a:tabLst>
            </a:pP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tabLst>
                <a:tab algn="l" pos="414720"/>
              </a:tabLst>
            </a:pP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tabLst>
                <a:tab algn="l" pos="414720"/>
              </a:tabLst>
            </a:pP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Mononoki Nerd Font Mono"/>
                <a:ea typeface="Microsoft YaHei"/>
              </a:rPr>
              <a:t> 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"/>
          <p:cNvSpPr/>
          <p:nvPr/>
        </p:nvSpPr>
        <p:spPr>
          <a:xfrm>
            <a:off x="180000" y="-295200"/>
            <a:ext cx="9066240" cy="94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uFillTx/>
                <a:latin typeface="Mononoki Nerd Font Mono"/>
              </a:rPr>
              <a:t>Reading and Writing Binary Data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18" name="" descr=""/>
          <p:cNvPicPr/>
          <p:nvPr/>
        </p:nvPicPr>
        <p:blipFill>
          <a:blip r:embed="rId1"/>
          <a:stretch/>
        </p:blipFill>
        <p:spPr>
          <a:xfrm>
            <a:off x="360000" y="540360"/>
            <a:ext cx="3871080" cy="4858920"/>
          </a:xfrm>
          <a:prstGeom prst="rect">
            <a:avLst/>
          </a:prstGeom>
          <a:ln w="0">
            <a:noFill/>
          </a:ln>
        </p:spPr>
      </p:pic>
      <p:pic>
        <p:nvPicPr>
          <p:cNvPr id="119" name="" descr=""/>
          <p:cNvPicPr/>
          <p:nvPr/>
        </p:nvPicPr>
        <p:blipFill>
          <a:blip r:embed="rId2"/>
          <a:stretch/>
        </p:blipFill>
        <p:spPr>
          <a:xfrm>
            <a:off x="4680000" y="540000"/>
            <a:ext cx="5229360" cy="395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316080" y="111960"/>
            <a:ext cx="9457920" cy="67896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  <a:tabLst>
                <a:tab algn="l" pos="0"/>
              </a:tabLst>
            </a:pPr>
            <a:r>
              <a:rPr b="1" lang="en-US" sz="3200" strike="noStrike" u="none" baseline="-8000">
                <a:solidFill>
                  <a:schemeClr val="dk1"/>
                </a:solidFill>
                <a:uFillTx/>
                <a:latin typeface="Mononoki Nerd Font Mono"/>
              </a:rPr>
              <a:t>Random Access Files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" name="object 6"/>
          <p:cNvSpPr/>
          <p:nvPr/>
        </p:nvSpPr>
        <p:spPr>
          <a:xfrm>
            <a:off x="460440" y="2817000"/>
            <a:ext cx="9064440" cy="22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1400" bIns="0" anchor="t">
            <a:spAutoFit/>
          </a:bodyPr>
          <a:p>
            <a:pPr>
              <a:lnSpc>
                <a:spcPct val="100000"/>
              </a:lnSpc>
            </a:pPr>
            <a:endParaRPr b="0" lang="en-US" sz="1979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object 8"/>
          <p:cNvSpPr/>
          <p:nvPr/>
        </p:nvSpPr>
        <p:spPr>
          <a:xfrm>
            <a:off x="268200" y="900000"/>
            <a:ext cx="8010720" cy="172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- Files are sequential access. 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- Random access files can help access at any location (seek at random locations) – has a </a:t>
            </a:r>
            <a:r>
              <a:rPr b="0" i="1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``file pointer’’ </a:t>
            </a:r>
            <a:r>
              <a:rPr b="0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much like C/C++.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- RandomAccessFile implements both DataInput and DataOutput interfaces – use methods like readInt()/writeInt() etc.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tabLst>
                <a:tab algn="l" pos="41472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tabLst>
                <a:tab algn="l" pos="41472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1620000" y="2489040"/>
            <a:ext cx="5524560" cy="551880"/>
          </a:xfrm>
          <a:prstGeom prst="rect">
            <a:avLst/>
          </a:prstGeom>
          <a:ln w="0">
            <a:noFill/>
          </a:ln>
        </p:spPr>
      </p:pic>
      <p:pic>
        <p:nvPicPr>
          <p:cNvPr id="124" name="" descr=""/>
          <p:cNvPicPr/>
          <p:nvPr/>
        </p:nvPicPr>
        <p:blipFill>
          <a:blip r:embed="rId2"/>
          <a:stretch/>
        </p:blipFill>
        <p:spPr>
          <a:xfrm>
            <a:off x="1662840" y="3240000"/>
            <a:ext cx="2368800" cy="898920"/>
          </a:xfrm>
          <a:prstGeom prst="rect">
            <a:avLst/>
          </a:prstGeom>
          <a:ln w="0">
            <a:noFill/>
          </a:ln>
        </p:spPr>
      </p:pic>
      <p:pic>
        <p:nvPicPr>
          <p:cNvPr id="125" name="" descr=""/>
          <p:cNvPicPr/>
          <p:nvPr/>
        </p:nvPicPr>
        <p:blipFill>
          <a:blip r:embed="rId3"/>
          <a:stretch/>
        </p:blipFill>
        <p:spPr>
          <a:xfrm>
            <a:off x="1800000" y="4589640"/>
            <a:ext cx="2580120" cy="484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316080" y="111960"/>
            <a:ext cx="9457920" cy="67896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  <a:tabLst>
                <a:tab algn="l" pos="0"/>
              </a:tabLst>
            </a:pPr>
            <a:r>
              <a:rPr b="1" lang="en-US" sz="3200" strike="noStrike" u="none" baseline="-8000">
                <a:solidFill>
                  <a:schemeClr val="dk1"/>
                </a:solidFill>
                <a:uFillTx/>
                <a:latin typeface="Mononoki Nerd Font Mono"/>
              </a:rPr>
              <a:t>Zip Archive Files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7" name="object 7"/>
          <p:cNvSpPr/>
          <p:nvPr/>
        </p:nvSpPr>
        <p:spPr>
          <a:xfrm>
            <a:off x="460440" y="2817000"/>
            <a:ext cx="9064440" cy="22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1400" bIns="0" anchor="t">
            <a:spAutoFit/>
          </a:bodyPr>
          <a:p>
            <a:pPr>
              <a:lnSpc>
                <a:spcPct val="100000"/>
              </a:lnSpc>
            </a:pPr>
            <a:endParaRPr b="0" lang="en-US" sz="1979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8" name="object 11"/>
          <p:cNvSpPr/>
          <p:nvPr/>
        </p:nvSpPr>
        <p:spPr>
          <a:xfrm>
            <a:off x="268200" y="900000"/>
            <a:ext cx="8010720" cy="187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- Used for accessing compressed (.zip) files. 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- ZipInputStream class to read a .zip file. 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- ZipOutputStream class to write to a .zip file.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- Compressed file stream stored in blocks, aka ``entires’’.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tabLst>
                <a:tab algn="l" pos="414720"/>
              </a:tabLst>
            </a:pP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tabLst>
                <a:tab algn="l" pos="414720"/>
              </a:tabLst>
            </a:pP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tabLst>
                <a:tab algn="l" pos="414720"/>
              </a:tabLst>
            </a:pP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tabLst>
                <a:tab algn="l" pos="414720"/>
              </a:tabLst>
            </a:pP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29" name="" descr=""/>
          <p:cNvPicPr/>
          <p:nvPr/>
        </p:nvPicPr>
        <p:blipFill>
          <a:blip r:embed="rId1"/>
          <a:stretch/>
        </p:blipFill>
        <p:spPr>
          <a:xfrm>
            <a:off x="1260000" y="2160000"/>
            <a:ext cx="6136920" cy="233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316080" y="111960"/>
            <a:ext cx="9457920" cy="67896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  <a:tabLst>
                <a:tab algn="l" pos="0"/>
              </a:tabLst>
            </a:pPr>
            <a:r>
              <a:rPr b="1" lang="en-US" sz="3200" strike="noStrike" u="none" baseline="-8000">
                <a:solidFill>
                  <a:schemeClr val="dk1"/>
                </a:solidFill>
                <a:uFillTx/>
                <a:latin typeface="Mononoki Nerd Font Mono"/>
              </a:rPr>
              <a:t>Zip Archive Files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1" name="object 12"/>
          <p:cNvSpPr/>
          <p:nvPr/>
        </p:nvSpPr>
        <p:spPr>
          <a:xfrm>
            <a:off x="460440" y="2817000"/>
            <a:ext cx="9064440" cy="22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1400" bIns="0" anchor="t">
            <a:spAutoFit/>
          </a:bodyPr>
          <a:p>
            <a:pPr>
              <a:lnSpc>
                <a:spcPct val="100000"/>
              </a:lnSpc>
            </a:pPr>
            <a:endParaRPr b="0" lang="en-US" sz="1979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2" name="object 13"/>
          <p:cNvSpPr/>
          <p:nvPr/>
        </p:nvSpPr>
        <p:spPr>
          <a:xfrm>
            <a:off x="268200" y="900000"/>
            <a:ext cx="8010720" cy="461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Writing to a ZIP file – use ZipOutputStream class.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tabLst>
                <a:tab algn="l" pos="414720"/>
              </a:tabLst>
            </a:pP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Mononoki Nerd Font Mono"/>
              </a:rPr>
              <a:t>FileOutputStream fout = new FileOutputStream("test.zip");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Mononoki Nerd Font Mono"/>
              </a:rPr>
              <a:t>ZipOutputStream zout = new ZipOutputStream(fout);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tabLst>
                <a:tab algn="l" pos="41472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i="1" lang="en-US" sz="1800" strike="noStrike" u="none">
                <a:solidFill>
                  <a:srgbClr val="000000"/>
                </a:solidFill>
                <a:uFillTx/>
                <a:latin typeface="Mononoki Nerd Font Mono"/>
              </a:rPr>
              <a:t>for all files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tabLst>
                <a:tab algn="l" pos="41472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Mononoki Nerd Font Mono"/>
              </a:rPr>
              <a:t>{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Mononoki Nerd Font Mono"/>
              </a:rPr>
              <a:t>ZipEntry ze = new ZipEntry(filename);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Mononoki Nerd Font Mono"/>
              </a:rPr>
              <a:t>zout.putNextEntry(ze);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Mononoki Nerd Font Mono"/>
              </a:rPr>
              <a:t>zout.write(...);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Mononoki Nerd Font Mono"/>
              </a:rPr>
              <a:t>zout.closeEntry();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Mononoki Nerd Font Mono"/>
              </a:rPr>
              <a:t>}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Mononoki Nerd Font Mono"/>
              </a:rPr>
              <a:t>zout.close();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tabLst>
                <a:tab algn="l" pos="414720"/>
              </a:tabLst>
            </a:pP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tabLst>
                <a:tab algn="l" pos="414720"/>
              </a:tabLst>
            </a:pP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tabLst>
                <a:tab algn="l" pos="414720"/>
              </a:tabLst>
            </a:pP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316080" y="111960"/>
            <a:ext cx="9457920" cy="67896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  <a:tabLst>
                <a:tab algn="l" pos="0"/>
              </a:tabLst>
            </a:pPr>
            <a:r>
              <a:rPr b="1" lang="en-US" sz="3200" strike="noStrike" u="none" baseline="-8000">
                <a:solidFill>
                  <a:schemeClr val="dk1"/>
                </a:solidFill>
                <a:uFillTx/>
                <a:latin typeface="Mononoki Nerd Font Mono"/>
              </a:rPr>
              <a:t>Path Interface and Files Class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4" name="object 14"/>
          <p:cNvSpPr/>
          <p:nvPr/>
        </p:nvSpPr>
        <p:spPr>
          <a:xfrm>
            <a:off x="460440" y="2817000"/>
            <a:ext cx="9064440" cy="22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1400" bIns="0" anchor="t">
            <a:spAutoFit/>
          </a:bodyPr>
          <a:p>
            <a:pPr>
              <a:lnSpc>
                <a:spcPct val="100000"/>
              </a:lnSpc>
            </a:pPr>
            <a:endParaRPr b="0" lang="en-US" sz="1979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5" name="object 15"/>
          <p:cNvSpPr/>
          <p:nvPr/>
        </p:nvSpPr>
        <p:spPr>
          <a:xfrm>
            <a:off x="268200" y="900000"/>
            <a:ext cx="8010720" cy="20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Used to work with the file system for operations like create file, delete file, create directory etc.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tabLst>
                <a:tab algn="l" pos="414720"/>
              </a:tabLst>
            </a:pP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Paths – Sequence of directory names, optionally followed by a file name. The first component is the </a:t>
            </a:r>
            <a:r>
              <a:rPr b="0" i="1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root </a:t>
            </a:r>
            <a:r>
              <a:rPr b="0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[e.g. / or </a:t>
            </a:r>
            <a:r>
              <a:rPr b="0" lang="en-US" sz="1500" strike="noStrike" u="sng">
                <a:solidFill>
                  <a:srgbClr val="000000"/>
                </a:solidFill>
                <a:uFillTx/>
                <a:latin typeface="Mononoki Nerd Font Mono"/>
                <a:hlinkClick r:id="rId1"/>
              </a:rPr>
              <a:t>C:\</a:t>
            </a:r>
            <a:r>
              <a:rPr b="0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 ].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tabLst>
                <a:tab algn="l" pos="414720"/>
              </a:tabLst>
            </a:pP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tabLst>
                <a:tab algn="l" pos="414720"/>
              </a:tabLst>
            </a:pP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tabLst>
                <a:tab algn="l" pos="414720"/>
              </a:tabLst>
            </a:pP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tabLst>
                <a:tab algn="l" pos="414720"/>
              </a:tabLst>
            </a:pP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36" name="" descr=""/>
          <p:cNvPicPr/>
          <p:nvPr/>
        </p:nvPicPr>
        <p:blipFill>
          <a:blip r:embed="rId2"/>
          <a:stretch/>
        </p:blipFill>
        <p:spPr>
          <a:xfrm>
            <a:off x="672480" y="2489040"/>
            <a:ext cx="5266800" cy="570240"/>
          </a:xfrm>
          <a:prstGeom prst="rect">
            <a:avLst/>
          </a:prstGeom>
          <a:ln w="0">
            <a:noFill/>
          </a:ln>
        </p:spPr>
      </p:pic>
      <p:sp>
        <p:nvSpPr>
          <p:cNvPr id="137" name=""/>
          <p:cNvSpPr/>
          <p:nvPr/>
        </p:nvSpPr>
        <p:spPr>
          <a:xfrm>
            <a:off x="540000" y="3211200"/>
            <a:ext cx="10020600" cy="73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(Throws InvalidPathException if it is not a valid path)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316080" y="111960"/>
            <a:ext cx="9457920" cy="67896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  <a:tabLst>
                <a:tab algn="l" pos="0"/>
              </a:tabLst>
            </a:pPr>
            <a:r>
              <a:rPr b="1" lang="en-US" sz="3200" strike="noStrike" u="none" baseline="-8000">
                <a:solidFill>
                  <a:schemeClr val="dk1"/>
                </a:solidFill>
                <a:uFillTx/>
                <a:latin typeface="Mononoki Nerd Font Mono"/>
              </a:rPr>
              <a:t>Path Interface and Files Class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9" name="object 16"/>
          <p:cNvSpPr/>
          <p:nvPr/>
        </p:nvSpPr>
        <p:spPr>
          <a:xfrm>
            <a:off x="460440" y="2817000"/>
            <a:ext cx="9064440" cy="22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1400" bIns="0" anchor="t">
            <a:spAutoFit/>
          </a:bodyPr>
          <a:p>
            <a:pPr>
              <a:lnSpc>
                <a:spcPct val="100000"/>
              </a:lnSpc>
            </a:pPr>
            <a:endParaRPr b="0" lang="en-US" sz="1979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0" name="object 17"/>
          <p:cNvSpPr/>
          <p:nvPr/>
        </p:nvSpPr>
        <p:spPr>
          <a:xfrm>
            <a:off x="268200" y="900000"/>
            <a:ext cx="8010720" cy="11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Read path as a string from a config file.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14720" indent="-402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ucida Sans Unicode"/>
              <a:buChar char="●"/>
              <a:tabLst>
                <a:tab algn="l" pos="414720"/>
              </a:tabLst>
            </a:pPr>
            <a:r>
              <a:rPr b="0" i="1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 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tabLst>
                <a:tab algn="l" pos="414720"/>
              </a:tabLst>
            </a:pP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tabLst>
                <a:tab algn="l" pos="414720"/>
              </a:tabLst>
            </a:pP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tabLst>
                <a:tab algn="l" pos="414720"/>
              </a:tabLst>
            </a:pP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41" name="" descr=""/>
          <p:cNvPicPr/>
          <p:nvPr/>
        </p:nvPicPr>
        <p:blipFill>
          <a:blip r:embed="rId1"/>
          <a:stretch/>
        </p:blipFill>
        <p:spPr>
          <a:xfrm>
            <a:off x="720000" y="1549800"/>
            <a:ext cx="5809680" cy="789480"/>
          </a:xfrm>
          <a:prstGeom prst="rect">
            <a:avLst/>
          </a:prstGeom>
          <a:ln w="0">
            <a:noFill/>
          </a:ln>
        </p:spPr>
      </p:pic>
      <p:sp>
        <p:nvSpPr>
          <p:cNvPr id="142" name=""/>
          <p:cNvSpPr/>
          <p:nvPr/>
        </p:nvSpPr>
        <p:spPr>
          <a:xfrm>
            <a:off x="654840" y="2700000"/>
            <a:ext cx="4564440" cy="159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i="1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Path resolution: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To resolve a path, e.g. to find the working directory relative to a known path: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43" name="" descr=""/>
          <p:cNvPicPr/>
          <p:nvPr/>
        </p:nvPicPr>
        <p:blipFill>
          <a:blip r:embed="rId2"/>
          <a:stretch/>
        </p:blipFill>
        <p:spPr>
          <a:xfrm>
            <a:off x="537480" y="4500000"/>
            <a:ext cx="3781800" cy="539280"/>
          </a:xfrm>
          <a:prstGeom prst="rect">
            <a:avLst/>
          </a:prstGeom>
          <a:ln w="0">
            <a:noFill/>
          </a:ln>
        </p:spPr>
      </p:pic>
      <p:pic>
        <p:nvPicPr>
          <p:cNvPr id="144" name="" descr=""/>
          <p:cNvPicPr/>
          <p:nvPr/>
        </p:nvPicPr>
        <p:blipFill>
          <a:blip r:embed="rId3"/>
          <a:stretch/>
        </p:blipFill>
        <p:spPr>
          <a:xfrm>
            <a:off x="5580000" y="4644000"/>
            <a:ext cx="3456720" cy="322560"/>
          </a:xfrm>
          <a:prstGeom prst="rect">
            <a:avLst/>
          </a:prstGeom>
          <a:ln w="0">
            <a:noFill/>
          </a:ln>
        </p:spPr>
      </p:pic>
      <p:sp>
        <p:nvSpPr>
          <p:cNvPr id="145" name=""/>
          <p:cNvSpPr/>
          <p:nvPr/>
        </p:nvSpPr>
        <p:spPr>
          <a:xfrm>
            <a:off x="4500000" y="4680000"/>
            <a:ext cx="1809360" cy="51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OR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316080" y="111960"/>
            <a:ext cx="9457920" cy="67896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  <a:tabLst>
                <a:tab algn="l" pos="0"/>
              </a:tabLst>
            </a:pPr>
            <a:r>
              <a:rPr b="1" lang="en-US" sz="3200" strike="noStrike" u="none" baseline="-8000">
                <a:solidFill>
                  <a:schemeClr val="dk1"/>
                </a:solidFill>
                <a:uFillTx/>
                <a:latin typeface="Mononoki Nerd Font Mono"/>
              </a:rPr>
              <a:t>Reading Files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7" name="object 18"/>
          <p:cNvSpPr/>
          <p:nvPr/>
        </p:nvSpPr>
        <p:spPr>
          <a:xfrm>
            <a:off x="460440" y="2817000"/>
            <a:ext cx="9064440" cy="22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1400" bIns="0" anchor="t">
            <a:spAutoFit/>
          </a:bodyPr>
          <a:p>
            <a:pPr>
              <a:lnSpc>
                <a:spcPct val="100000"/>
              </a:lnSpc>
            </a:pPr>
            <a:endParaRPr b="0" lang="en-US" sz="1979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8" name="object 19"/>
          <p:cNvSpPr/>
          <p:nvPr/>
        </p:nvSpPr>
        <p:spPr>
          <a:xfrm>
            <a:off x="268200" y="900000"/>
            <a:ext cx="8010720" cy="120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>
              <a:lnSpc>
                <a:spcPct val="100000"/>
              </a:lnSpc>
              <a:spcBef>
                <a:spcPts val="99"/>
              </a:spcBef>
              <a:tabLst>
                <a:tab algn="l" pos="414720"/>
              </a:tabLst>
            </a:pP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4500000" y="4680000"/>
            <a:ext cx="1809360" cy="51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50" name="" descr=""/>
          <p:cNvPicPr/>
          <p:nvPr/>
        </p:nvPicPr>
        <p:blipFill>
          <a:blip r:embed="rId1"/>
          <a:stretch/>
        </p:blipFill>
        <p:spPr>
          <a:xfrm>
            <a:off x="268200" y="1457640"/>
            <a:ext cx="3485520" cy="341640"/>
          </a:xfrm>
          <a:prstGeom prst="rect">
            <a:avLst/>
          </a:prstGeom>
          <a:ln w="0">
            <a:noFill/>
          </a:ln>
        </p:spPr>
      </p:pic>
      <p:sp>
        <p:nvSpPr>
          <p:cNvPr id="151" name=""/>
          <p:cNvSpPr/>
          <p:nvPr/>
        </p:nvSpPr>
        <p:spPr>
          <a:xfrm>
            <a:off x="0" y="1080000"/>
            <a:ext cx="5769360" cy="94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Read bytes from a file into a byte array.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52" name="" descr=""/>
          <p:cNvPicPr/>
          <p:nvPr/>
        </p:nvPicPr>
        <p:blipFill>
          <a:blip r:embed="rId2"/>
          <a:stretch/>
        </p:blipFill>
        <p:spPr>
          <a:xfrm>
            <a:off x="180000" y="2225160"/>
            <a:ext cx="4499280" cy="294120"/>
          </a:xfrm>
          <a:prstGeom prst="rect">
            <a:avLst/>
          </a:prstGeom>
          <a:ln w="0">
            <a:noFill/>
          </a:ln>
        </p:spPr>
      </p:pic>
      <p:pic>
        <p:nvPicPr>
          <p:cNvPr id="153" name="" descr=""/>
          <p:cNvPicPr/>
          <p:nvPr/>
        </p:nvPicPr>
        <p:blipFill>
          <a:blip r:embed="rId3"/>
          <a:stretch/>
        </p:blipFill>
        <p:spPr>
          <a:xfrm>
            <a:off x="180000" y="3240000"/>
            <a:ext cx="3780720" cy="275040"/>
          </a:xfrm>
          <a:prstGeom prst="rect">
            <a:avLst/>
          </a:prstGeom>
          <a:ln w="0">
            <a:noFill/>
          </a:ln>
        </p:spPr>
      </p:pic>
      <p:sp>
        <p:nvSpPr>
          <p:cNvPr id="154" name=""/>
          <p:cNvSpPr/>
          <p:nvPr/>
        </p:nvSpPr>
        <p:spPr>
          <a:xfrm>
            <a:off x="0" y="1980000"/>
            <a:ext cx="5769360" cy="94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Mononoki Nerd Font Mono"/>
              </a:rPr>
              <a:t>Read all lines are a collection of strings.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169920" y="3009960"/>
            <a:ext cx="5769360" cy="94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Write bytes to a file. 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56" name="" descr=""/>
          <p:cNvPicPr/>
          <p:nvPr/>
        </p:nvPicPr>
        <p:blipFill>
          <a:blip r:embed="rId4"/>
          <a:stretch/>
        </p:blipFill>
        <p:spPr>
          <a:xfrm>
            <a:off x="180000" y="3515760"/>
            <a:ext cx="4901400" cy="275040"/>
          </a:xfrm>
          <a:prstGeom prst="rect">
            <a:avLst/>
          </a:prstGeom>
          <a:ln w="0">
            <a:noFill/>
          </a:ln>
        </p:spPr>
      </p:pic>
      <p:sp>
        <p:nvSpPr>
          <p:cNvPr id="157" name=""/>
          <p:cNvSpPr/>
          <p:nvPr/>
        </p:nvSpPr>
        <p:spPr>
          <a:xfrm>
            <a:off x="169920" y="3010320"/>
            <a:ext cx="5769360" cy="94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Write bytes to a file. 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169920" y="4089960"/>
            <a:ext cx="5769360" cy="94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Reading large files: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59" name="" descr=""/>
          <p:cNvPicPr/>
          <p:nvPr/>
        </p:nvPicPr>
        <p:blipFill>
          <a:blip r:embed="rId5"/>
          <a:stretch/>
        </p:blipFill>
        <p:spPr>
          <a:xfrm>
            <a:off x="246240" y="4356000"/>
            <a:ext cx="3137040" cy="359280"/>
          </a:xfrm>
          <a:prstGeom prst="rect">
            <a:avLst/>
          </a:prstGeom>
          <a:ln w="0">
            <a:noFill/>
          </a:ln>
        </p:spPr>
      </p:pic>
      <p:pic>
        <p:nvPicPr>
          <p:cNvPr id="160" name="" descr=""/>
          <p:cNvPicPr/>
          <p:nvPr/>
        </p:nvPicPr>
        <p:blipFill>
          <a:blip r:embed="rId6"/>
          <a:stretch/>
        </p:blipFill>
        <p:spPr>
          <a:xfrm>
            <a:off x="338760" y="5013360"/>
            <a:ext cx="3260520" cy="385920"/>
          </a:xfrm>
          <a:prstGeom prst="rect">
            <a:avLst/>
          </a:prstGeom>
          <a:ln w="0">
            <a:noFill/>
          </a:ln>
        </p:spPr>
      </p:pic>
      <p:pic>
        <p:nvPicPr>
          <p:cNvPr id="161" name="" descr=""/>
          <p:cNvPicPr/>
          <p:nvPr/>
        </p:nvPicPr>
        <p:blipFill>
          <a:blip r:embed="rId7"/>
          <a:stretch/>
        </p:blipFill>
        <p:spPr>
          <a:xfrm>
            <a:off x="4870440" y="360000"/>
            <a:ext cx="5028840" cy="1522440"/>
          </a:xfrm>
          <a:prstGeom prst="rect">
            <a:avLst/>
          </a:prstGeom>
          <a:ln w="0">
            <a:noFill/>
          </a:ln>
        </p:spPr>
      </p:pic>
      <p:pic>
        <p:nvPicPr>
          <p:cNvPr id="162" name="" descr=""/>
          <p:cNvPicPr/>
          <p:nvPr/>
        </p:nvPicPr>
        <p:blipFill>
          <a:blip r:embed="rId8"/>
          <a:stretch/>
        </p:blipFill>
        <p:spPr>
          <a:xfrm>
            <a:off x="4860000" y="2164680"/>
            <a:ext cx="4905000" cy="894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316080" y="40320"/>
            <a:ext cx="9457920" cy="67896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  <a:tabLst>
                <a:tab algn="l" pos="0"/>
              </a:tabLst>
            </a:pPr>
            <a:r>
              <a:rPr b="1" lang="en-US" sz="3200" strike="noStrike" u="none" baseline="-8000">
                <a:solidFill>
                  <a:schemeClr val="dk1"/>
                </a:solidFill>
                <a:uFillTx/>
                <a:latin typeface="Mononoki Nerd Font Mono"/>
              </a:rPr>
              <a:t>Directories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4" name="object 20"/>
          <p:cNvSpPr/>
          <p:nvPr/>
        </p:nvSpPr>
        <p:spPr>
          <a:xfrm>
            <a:off x="460440" y="2817000"/>
            <a:ext cx="9064440" cy="22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1400" bIns="0" anchor="t">
            <a:spAutoFit/>
          </a:bodyPr>
          <a:p>
            <a:pPr>
              <a:lnSpc>
                <a:spcPct val="100000"/>
              </a:lnSpc>
            </a:pPr>
            <a:endParaRPr b="0" lang="en-US" sz="1979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5" name="object 21"/>
          <p:cNvSpPr/>
          <p:nvPr/>
        </p:nvSpPr>
        <p:spPr>
          <a:xfrm>
            <a:off x="268200" y="900000"/>
            <a:ext cx="8010720" cy="120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4500000" y="4680000"/>
            <a:ext cx="1809360" cy="51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268200" y="791640"/>
            <a:ext cx="5671080" cy="46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Creating directory from path.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68" name="" descr=""/>
          <p:cNvPicPr/>
          <p:nvPr/>
        </p:nvPicPr>
        <p:blipFill>
          <a:blip r:embed="rId1"/>
          <a:stretch/>
        </p:blipFill>
        <p:spPr>
          <a:xfrm>
            <a:off x="268200" y="1126080"/>
            <a:ext cx="2418480" cy="313200"/>
          </a:xfrm>
          <a:prstGeom prst="rect">
            <a:avLst/>
          </a:prstGeom>
          <a:ln w="0">
            <a:noFill/>
          </a:ln>
        </p:spPr>
      </p:pic>
      <p:pic>
        <p:nvPicPr>
          <p:cNvPr id="169" name="" descr=""/>
          <p:cNvPicPr/>
          <p:nvPr/>
        </p:nvPicPr>
        <p:blipFill>
          <a:blip r:embed="rId2"/>
          <a:stretch/>
        </p:blipFill>
        <p:spPr>
          <a:xfrm>
            <a:off x="268200" y="1821240"/>
            <a:ext cx="2618640" cy="284400"/>
          </a:xfrm>
          <a:prstGeom prst="rect">
            <a:avLst/>
          </a:prstGeom>
          <a:ln w="0">
            <a:noFill/>
          </a:ln>
        </p:spPr>
      </p:pic>
      <p:sp>
        <p:nvSpPr>
          <p:cNvPr id="170" name=""/>
          <p:cNvSpPr/>
          <p:nvPr/>
        </p:nvSpPr>
        <p:spPr>
          <a:xfrm>
            <a:off x="268200" y="1511640"/>
            <a:ext cx="5671080" cy="46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Creating intermediate directories.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268560" y="1512000"/>
            <a:ext cx="5671080" cy="46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Creating intermediate directories.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180000" y="2160000"/>
            <a:ext cx="5671080" cy="46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Creating and empty file in a directory.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73" name="" descr=""/>
          <p:cNvPicPr/>
          <p:nvPr/>
        </p:nvPicPr>
        <p:blipFill>
          <a:blip r:embed="rId3"/>
          <a:stretch/>
        </p:blipFill>
        <p:spPr>
          <a:xfrm>
            <a:off x="330480" y="2628360"/>
            <a:ext cx="2008800" cy="198720"/>
          </a:xfrm>
          <a:prstGeom prst="rect">
            <a:avLst/>
          </a:prstGeom>
          <a:ln w="0">
            <a:noFill/>
          </a:ln>
        </p:spPr>
      </p:pic>
      <p:sp>
        <p:nvSpPr>
          <p:cNvPr id="174" name=""/>
          <p:cNvSpPr/>
          <p:nvPr/>
        </p:nvSpPr>
        <p:spPr>
          <a:xfrm>
            <a:off x="180000" y="3060000"/>
            <a:ext cx="6479280" cy="51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Mononoki Nerd Font Mono"/>
              </a:rPr>
              <a:t>Creating temporary files and directories in 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Mononoki Nerd Font Mono"/>
              </a:rPr>
              <a:t>system-specific locations.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75" name="" descr=""/>
          <p:cNvPicPr/>
          <p:nvPr/>
        </p:nvPicPr>
        <p:blipFill>
          <a:blip r:embed="rId4"/>
          <a:stretch/>
        </p:blipFill>
        <p:spPr>
          <a:xfrm>
            <a:off x="180000" y="3616560"/>
            <a:ext cx="4319280" cy="469440"/>
          </a:xfrm>
          <a:prstGeom prst="rect">
            <a:avLst/>
          </a:prstGeom>
          <a:ln w="0">
            <a:noFill/>
          </a:ln>
        </p:spPr>
      </p:pic>
      <p:pic>
        <p:nvPicPr>
          <p:cNvPr id="176" name="" descr=""/>
          <p:cNvPicPr/>
          <p:nvPr/>
        </p:nvPicPr>
        <p:blipFill>
          <a:blip r:embed="rId5"/>
          <a:stretch/>
        </p:blipFill>
        <p:spPr>
          <a:xfrm>
            <a:off x="252000" y="4320000"/>
            <a:ext cx="4247280" cy="473760"/>
          </a:xfrm>
          <a:prstGeom prst="rect">
            <a:avLst/>
          </a:prstGeom>
          <a:ln w="0">
            <a:noFill/>
          </a:ln>
        </p:spPr>
      </p:pic>
      <p:pic>
        <p:nvPicPr>
          <p:cNvPr id="177" name="" descr=""/>
          <p:cNvPicPr/>
          <p:nvPr/>
        </p:nvPicPr>
        <p:blipFill>
          <a:blip r:embed="rId6"/>
          <a:stretch/>
        </p:blipFill>
        <p:spPr>
          <a:xfrm>
            <a:off x="4503240" y="360000"/>
            <a:ext cx="5342760" cy="269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316080" y="40320"/>
            <a:ext cx="9457920" cy="67896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  <a:tabLst>
                <a:tab algn="l" pos="0"/>
              </a:tabLst>
            </a:pPr>
            <a:r>
              <a:rPr b="1" lang="en-US" sz="3200" strike="noStrike" u="none" baseline="-8000">
                <a:solidFill>
                  <a:schemeClr val="dk1"/>
                </a:solidFill>
                <a:uFillTx/>
                <a:latin typeface="Mononoki Nerd Font Mono"/>
              </a:rPr>
              <a:t>Copying, Moving and Deleting Files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9" name="object 22"/>
          <p:cNvSpPr/>
          <p:nvPr/>
        </p:nvSpPr>
        <p:spPr>
          <a:xfrm>
            <a:off x="460440" y="2817000"/>
            <a:ext cx="9064440" cy="22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1400" bIns="0" anchor="t">
            <a:spAutoFit/>
          </a:bodyPr>
          <a:p>
            <a:pPr>
              <a:lnSpc>
                <a:spcPct val="100000"/>
              </a:lnSpc>
            </a:pPr>
            <a:endParaRPr b="0" lang="en-US" sz="1979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0" name="object 23"/>
          <p:cNvSpPr/>
          <p:nvPr/>
        </p:nvSpPr>
        <p:spPr>
          <a:xfrm>
            <a:off x="268200" y="900000"/>
            <a:ext cx="8010720" cy="120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4500000" y="4680000"/>
            <a:ext cx="1809360" cy="51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268200" y="791640"/>
            <a:ext cx="5671080" cy="46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Copy file from one location to another.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268200" y="1638000"/>
            <a:ext cx="5671080" cy="46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Move/rename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180000" y="2359800"/>
            <a:ext cx="6479280" cy="51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Mononoki Nerd Font Mono"/>
              </a:rPr>
              <a:t>Copy/move with target overwrite: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85" name="" descr=""/>
          <p:cNvPicPr/>
          <p:nvPr/>
        </p:nvPicPr>
        <p:blipFill>
          <a:blip r:embed="rId1"/>
          <a:stretch/>
        </p:blipFill>
        <p:spPr>
          <a:xfrm>
            <a:off x="360000" y="1164240"/>
            <a:ext cx="2446920" cy="275040"/>
          </a:xfrm>
          <a:prstGeom prst="rect">
            <a:avLst/>
          </a:prstGeom>
          <a:ln w="0">
            <a:noFill/>
          </a:ln>
        </p:spPr>
      </p:pic>
      <p:pic>
        <p:nvPicPr>
          <p:cNvPr id="186" name="" descr=""/>
          <p:cNvPicPr/>
          <p:nvPr/>
        </p:nvPicPr>
        <p:blipFill>
          <a:blip r:embed="rId2"/>
          <a:stretch/>
        </p:blipFill>
        <p:spPr>
          <a:xfrm>
            <a:off x="360000" y="1980000"/>
            <a:ext cx="2656440" cy="236880"/>
          </a:xfrm>
          <a:prstGeom prst="rect">
            <a:avLst/>
          </a:prstGeom>
          <a:ln w="0">
            <a:noFill/>
          </a:ln>
        </p:spPr>
      </p:pic>
      <p:pic>
        <p:nvPicPr>
          <p:cNvPr id="187" name="" descr=""/>
          <p:cNvPicPr/>
          <p:nvPr/>
        </p:nvPicPr>
        <p:blipFill>
          <a:blip r:embed="rId3"/>
          <a:stretch/>
        </p:blipFill>
        <p:spPr>
          <a:xfrm>
            <a:off x="207720" y="2700000"/>
            <a:ext cx="4831560" cy="401400"/>
          </a:xfrm>
          <a:prstGeom prst="rect">
            <a:avLst/>
          </a:prstGeom>
          <a:ln w="0">
            <a:noFill/>
          </a:ln>
        </p:spPr>
      </p:pic>
      <p:sp>
        <p:nvSpPr>
          <p:cNvPr id="188" name=""/>
          <p:cNvSpPr/>
          <p:nvPr/>
        </p:nvSpPr>
        <p:spPr>
          <a:xfrm>
            <a:off x="180000" y="3240000"/>
            <a:ext cx="6479280" cy="51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Mononoki Nerd Font Mono"/>
              </a:rPr>
              <a:t>Atomic move (move correctly or don’t remove sources):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89" name="" descr=""/>
          <p:cNvPicPr/>
          <p:nvPr/>
        </p:nvPicPr>
        <p:blipFill>
          <a:blip r:embed="rId4"/>
          <a:stretch/>
        </p:blipFill>
        <p:spPr>
          <a:xfrm>
            <a:off x="181080" y="3600000"/>
            <a:ext cx="3958200" cy="200880"/>
          </a:xfrm>
          <a:prstGeom prst="rect">
            <a:avLst/>
          </a:prstGeom>
          <a:ln w="0">
            <a:noFill/>
          </a:ln>
        </p:spPr>
      </p:pic>
      <p:sp>
        <p:nvSpPr>
          <p:cNvPr id="190" name=""/>
          <p:cNvSpPr/>
          <p:nvPr/>
        </p:nvSpPr>
        <p:spPr>
          <a:xfrm>
            <a:off x="72000" y="3924000"/>
            <a:ext cx="6479280" cy="51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Mononoki Nerd Font Mono"/>
              </a:rPr>
              <a:t>Copy files from InputStream to path and from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Mononoki Nerd Font Mono"/>
              </a:rPr>
              <a:t>Path to OutputStream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91" name="" descr=""/>
          <p:cNvPicPr/>
          <p:nvPr/>
        </p:nvPicPr>
        <p:blipFill>
          <a:blip r:embed="rId5"/>
          <a:stretch/>
        </p:blipFill>
        <p:spPr>
          <a:xfrm>
            <a:off x="180000" y="4320000"/>
            <a:ext cx="2699280" cy="493920"/>
          </a:xfrm>
          <a:prstGeom prst="rect">
            <a:avLst/>
          </a:prstGeom>
          <a:ln w="0">
            <a:noFill/>
          </a:ln>
        </p:spPr>
      </p:pic>
      <p:sp>
        <p:nvSpPr>
          <p:cNvPr id="192" name=""/>
          <p:cNvSpPr/>
          <p:nvPr/>
        </p:nvSpPr>
        <p:spPr>
          <a:xfrm>
            <a:off x="0" y="4860000"/>
            <a:ext cx="6479280" cy="51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Mononoki Nerd Font Mono"/>
              </a:rPr>
              <a:t>Delete file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93" name="" descr=""/>
          <p:cNvPicPr/>
          <p:nvPr/>
        </p:nvPicPr>
        <p:blipFill>
          <a:blip r:embed="rId6"/>
          <a:stretch/>
        </p:blipFill>
        <p:spPr>
          <a:xfrm>
            <a:off x="180000" y="5086080"/>
            <a:ext cx="1618200" cy="313200"/>
          </a:xfrm>
          <a:prstGeom prst="rect">
            <a:avLst/>
          </a:prstGeom>
          <a:ln w="0">
            <a:noFill/>
          </a:ln>
        </p:spPr>
      </p:pic>
      <p:pic>
        <p:nvPicPr>
          <p:cNvPr id="194" name="" descr=""/>
          <p:cNvPicPr/>
          <p:nvPr/>
        </p:nvPicPr>
        <p:blipFill>
          <a:blip r:embed="rId7"/>
          <a:stretch/>
        </p:blipFill>
        <p:spPr>
          <a:xfrm>
            <a:off x="5164920" y="460800"/>
            <a:ext cx="4734360" cy="235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316080" y="40320"/>
            <a:ext cx="9457920" cy="67896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  <a:tabLst>
                <a:tab algn="l" pos="0"/>
              </a:tabLst>
            </a:pPr>
            <a:r>
              <a:rPr b="1" lang="en-US" sz="3200" strike="noStrike" u="none" baseline="-8000">
                <a:solidFill>
                  <a:schemeClr val="dk1"/>
                </a:solidFill>
                <a:uFillTx/>
                <a:latin typeface="Mononoki Nerd Font Mono"/>
              </a:rPr>
              <a:t>Getting File Attributes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6" name="object 24"/>
          <p:cNvSpPr/>
          <p:nvPr/>
        </p:nvSpPr>
        <p:spPr>
          <a:xfrm>
            <a:off x="460440" y="2817000"/>
            <a:ext cx="9064440" cy="22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1400" bIns="0" anchor="t">
            <a:spAutoFit/>
          </a:bodyPr>
          <a:p>
            <a:pPr>
              <a:lnSpc>
                <a:spcPct val="100000"/>
              </a:lnSpc>
            </a:pPr>
            <a:endParaRPr b="0" lang="en-US" sz="1979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7" name="object 25"/>
          <p:cNvSpPr/>
          <p:nvPr/>
        </p:nvSpPr>
        <p:spPr>
          <a:xfrm>
            <a:off x="268200" y="900000"/>
            <a:ext cx="8010720" cy="120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4500000" y="4680000"/>
            <a:ext cx="1809360" cy="51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268200" y="791640"/>
            <a:ext cx="3691080" cy="94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All FS attributes are encapsulated in the BasicFileAttributes and PosixFileAttributes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00" name="" descr=""/>
          <p:cNvPicPr/>
          <p:nvPr/>
        </p:nvPicPr>
        <p:blipFill>
          <a:blip r:embed="rId1"/>
          <a:stretch/>
        </p:blipFill>
        <p:spPr>
          <a:xfrm>
            <a:off x="0" y="2149920"/>
            <a:ext cx="3599280" cy="189360"/>
          </a:xfrm>
          <a:prstGeom prst="rect">
            <a:avLst/>
          </a:prstGeom>
          <a:ln w="0">
            <a:noFill/>
          </a:ln>
        </p:spPr>
      </p:pic>
      <p:pic>
        <p:nvPicPr>
          <p:cNvPr id="201" name="" descr=""/>
          <p:cNvPicPr/>
          <p:nvPr/>
        </p:nvPicPr>
        <p:blipFill>
          <a:blip r:embed="rId2"/>
          <a:stretch/>
        </p:blipFill>
        <p:spPr>
          <a:xfrm>
            <a:off x="0" y="2846160"/>
            <a:ext cx="3959280" cy="213120"/>
          </a:xfrm>
          <a:prstGeom prst="rect">
            <a:avLst/>
          </a:prstGeom>
          <a:ln w="0">
            <a:noFill/>
          </a:ln>
        </p:spPr>
      </p:pic>
      <p:pic>
        <p:nvPicPr>
          <p:cNvPr id="202" name="" descr=""/>
          <p:cNvPicPr/>
          <p:nvPr/>
        </p:nvPicPr>
        <p:blipFill>
          <a:blip r:embed="rId3"/>
          <a:stretch/>
        </p:blipFill>
        <p:spPr>
          <a:xfrm>
            <a:off x="4500000" y="40320"/>
            <a:ext cx="5220000" cy="2803320"/>
          </a:xfrm>
          <a:prstGeom prst="rect">
            <a:avLst/>
          </a:prstGeom>
          <a:ln w="0">
            <a:noFill/>
          </a:ln>
        </p:spPr>
      </p:pic>
      <p:pic>
        <p:nvPicPr>
          <p:cNvPr id="203" name="" descr=""/>
          <p:cNvPicPr/>
          <p:nvPr/>
        </p:nvPicPr>
        <p:blipFill>
          <a:blip r:embed="rId4"/>
          <a:stretch/>
        </p:blipFill>
        <p:spPr>
          <a:xfrm>
            <a:off x="4830840" y="3780000"/>
            <a:ext cx="4888440" cy="1799280"/>
          </a:xfrm>
          <a:prstGeom prst="rect">
            <a:avLst/>
          </a:prstGeom>
          <a:ln w="0">
            <a:noFill/>
          </a:ln>
        </p:spPr>
      </p:pic>
      <p:pic>
        <p:nvPicPr>
          <p:cNvPr id="204" name="" descr=""/>
          <p:cNvPicPr/>
          <p:nvPr/>
        </p:nvPicPr>
        <p:blipFill>
          <a:blip r:embed="rId5"/>
          <a:stretch/>
        </p:blipFill>
        <p:spPr>
          <a:xfrm>
            <a:off x="-5040" y="3060000"/>
            <a:ext cx="5404320" cy="359280"/>
          </a:xfrm>
          <a:prstGeom prst="rect">
            <a:avLst/>
          </a:prstGeom>
          <a:ln w="0">
            <a:noFill/>
          </a:ln>
        </p:spPr>
      </p:pic>
      <p:pic>
        <p:nvPicPr>
          <p:cNvPr id="205" name="" descr=""/>
          <p:cNvPicPr/>
          <p:nvPr/>
        </p:nvPicPr>
        <p:blipFill>
          <a:blip r:embed="rId6"/>
          <a:stretch/>
        </p:blipFill>
        <p:spPr>
          <a:xfrm>
            <a:off x="0" y="3352680"/>
            <a:ext cx="5399280" cy="246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316080" y="40320"/>
            <a:ext cx="9457920" cy="67896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  <a:tabLst>
                <a:tab algn="l" pos="0"/>
              </a:tabLst>
            </a:pPr>
            <a:r>
              <a:rPr b="1" lang="en-US" sz="3200" strike="noStrike" u="none" baseline="-8000">
                <a:solidFill>
                  <a:schemeClr val="dk1"/>
                </a:solidFill>
                <a:uFillTx/>
                <a:latin typeface="Mononoki Nerd Font Mono"/>
              </a:rPr>
              <a:t>Directory Traversal/Walk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7" name="object 26"/>
          <p:cNvSpPr/>
          <p:nvPr/>
        </p:nvSpPr>
        <p:spPr>
          <a:xfrm>
            <a:off x="460440" y="2817000"/>
            <a:ext cx="9064440" cy="22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1400" bIns="0" anchor="t">
            <a:spAutoFit/>
          </a:bodyPr>
          <a:p>
            <a:endParaRPr b="0" lang="en-US" sz="1979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8" name="object 27"/>
          <p:cNvSpPr/>
          <p:nvPr/>
        </p:nvSpPr>
        <p:spPr>
          <a:xfrm>
            <a:off x="268200" y="900000"/>
            <a:ext cx="8010720" cy="120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4500000" y="4680000"/>
            <a:ext cx="1809360" cy="51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268200" y="791640"/>
            <a:ext cx="3691080" cy="94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Directories are also files, so you can read all the entries of a directory and use them.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11" name="" descr=""/>
          <p:cNvPicPr/>
          <p:nvPr/>
        </p:nvPicPr>
        <p:blipFill>
          <a:blip r:embed="rId1"/>
          <a:stretch/>
        </p:blipFill>
        <p:spPr>
          <a:xfrm>
            <a:off x="268200" y="1655640"/>
            <a:ext cx="3580920" cy="713880"/>
          </a:xfrm>
          <a:prstGeom prst="rect">
            <a:avLst/>
          </a:prstGeom>
          <a:ln w="0">
            <a:noFill/>
          </a:ln>
        </p:spPr>
      </p:pic>
      <p:pic>
        <p:nvPicPr>
          <p:cNvPr id="212" name="" descr=""/>
          <p:cNvPicPr/>
          <p:nvPr/>
        </p:nvPicPr>
        <p:blipFill>
          <a:blip r:embed="rId2"/>
          <a:stretch/>
        </p:blipFill>
        <p:spPr>
          <a:xfrm>
            <a:off x="309960" y="2570760"/>
            <a:ext cx="3627720" cy="698760"/>
          </a:xfrm>
          <a:prstGeom prst="rect">
            <a:avLst/>
          </a:prstGeom>
          <a:ln w="0">
            <a:noFill/>
          </a:ln>
        </p:spPr>
      </p:pic>
      <p:sp>
        <p:nvSpPr>
          <p:cNvPr id="213" name=""/>
          <p:cNvSpPr/>
          <p:nvPr/>
        </p:nvSpPr>
        <p:spPr>
          <a:xfrm>
            <a:off x="217080" y="3374280"/>
            <a:ext cx="3691080" cy="94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Using directory streams.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14" name="" descr=""/>
          <p:cNvPicPr/>
          <p:nvPr/>
        </p:nvPicPr>
        <p:blipFill>
          <a:blip r:embed="rId3"/>
          <a:stretch/>
        </p:blipFill>
        <p:spPr>
          <a:xfrm>
            <a:off x="217080" y="3860280"/>
            <a:ext cx="4409640" cy="418680"/>
          </a:xfrm>
          <a:prstGeom prst="rect">
            <a:avLst/>
          </a:prstGeom>
          <a:ln w="0">
            <a:noFill/>
          </a:ln>
        </p:spPr>
      </p:pic>
      <p:pic>
        <p:nvPicPr>
          <p:cNvPr id="215" name="" descr=""/>
          <p:cNvPicPr/>
          <p:nvPr/>
        </p:nvPicPr>
        <p:blipFill>
          <a:blip r:embed="rId4"/>
          <a:stretch/>
        </p:blipFill>
        <p:spPr>
          <a:xfrm>
            <a:off x="217080" y="4278960"/>
            <a:ext cx="2161800" cy="609120"/>
          </a:xfrm>
          <a:prstGeom prst="rect">
            <a:avLst/>
          </a:prstGeom>
          <a:ln w="0">
            <a:noFill/>
          </a:ln>
        </p:spPr>
      </p:pic>
      <p:sp>
        <p:nvSpPr>
          <p:cNvPr id="216" name=""/>
          <p:cNvSpPr/>
          <p:nvPr/>
        </p:nvSpPr>
        <p:spPr>
          <a:xfrm>
            <a:off x="6082920" y="497520"/>
            <a:ext cx="3691080" cy="94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Filtering files in a directory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17" name="" descr=""/>
          <p:cNvPicPr/>
          <p:nvPr/>
        </p:nvPicPr>
        <p:blipFill>
          <a:blip r:embed="rId5"/>
          <a:stretch/>
        </p:blipFill>
        <p:spPr>
          <a:xfrm>
            <a:off x="5123880" y="1068480"/>
            <a:ext cx="4723920" cy="228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504000" y="-240840"/>
            <a:ext cx="9066240" cy="94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  <a:tabLst>
                <a:tab algn="l" pos="0"/>
              </a:tabLst>
            </a:pPr>
            <a:r>
              <a:rPr b="1" lang="en-US" sz="3200" strike="noStrike" u="none" baseline="-8000">
                <a:solidFill>
                  <a:schemeClr val="dk1"/>
                </a:solidFill>
                <a:uFillTx/>
                <a:latin typeface="Mononoki Nerd Font Mono"/>
              </a:rPr>
              <a:t>Memory Mapped I/O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319320" y="529560"/>
            <a:ext cx="9346320" cy="94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- Instead of writing and reading from disk directly, map the file to a memory location and work on it like its a flat memory.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 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(Caveat: In reality all files are mapped to a location of memory for faster operation, aka </a:t>
            </a:r>
            <a:r>
              <a:rPr b="0" i="1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BufferedReader</a:t>
            </a:r>
            <a:r>
              <a:rPr b="0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). 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Steps: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1. Get a FileChannel object of a file  (like a file handle).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2. Specify the file area you want to map, using the FileChannel (1) and the </a:t>
            </a:r>
            <a:r>
              <a:rPr b="0" i="1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mapping mode </a:t>
            </a:r>
            <a:r>
              <a:rPr b="0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(FileChannel.MapMode.READ_ONLY,FileChannel.MapMode.READ_WRITE,FileChannel.MapMode.Private). 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3. (2) provides a reference to ByteBuffer class that can be used for reading and writing like a flat file.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Buffers can be both sequential (using the get() and put() method that advance the position) or random-access using the actual location.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297360" y="-277200"/>
            <a:ext cx="9066240" cy="94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  <a:tabLst>
                <a:tab algn="l" pos="0"/>
              </a:tabLst>
            </a:pPr>
            <a:r>
              <a:rPr b="1" lang="en-US" sz="3200" strike="noStrike" u="none" baseline="-8000">
                <a:solidFill>
                  <a:schemeClr val="dk1"/>
                </a:solidFill>
                <a:uFillTx/>
                <a:latin typeface="Mononoki Nerd Font Mono"/>
              </a:rPr>
              <a:t>Memory Mapped I/O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-1899000" y="1549440"/>
            <a:ext cx="9346320" cy="94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22" name="" descr=""/>
          <p:cNvPicPr/>
          <p:nvPr/>
        </p:nvPicPr>
        <p:blipFill>
          <a:blip r:embed="rId1"/>
          <a:stretch/>
        </p:blipFill>
        <p:spPr>
          <a:xfrm>
            <a:off x="425160" y="1056960"/>
            <a:ext cx="1885680" cy="837720"/>
          </a:xfrm>
          <a:prstGeom prst="rect">
            <a:avLst/>
          </a:prstGeom>
          <a:ln w="0">
            <a:noFill/>
          </a:ln>
        </p:spPr>
      </p:pic>
      <p:pic>
        <p:nvPicPr>
          <p:cNvPr id="223" name="" descr=""/>
          <p:cNvPicPr/>
          <p:nvPr/>
        </p:nvPicPr>
        <p:blipFill>
          <a:blip r:embed="rId2"/>
          <a:stretch/>
        </p:blipFill>
        <p:spPr>
          <a:xfrm>
            <a:off x="489960" y="2542320"/>
            <a:ext cx="2523600" cy="885600"/>
          </a:xfrm>
          <a:prstGeom prst="rect">
            <a:avLst/>
          </a:prstGeom>
          <a:ln w="0">
            <a:noFill/>
          </a:ln>
        </p:spPr>
      </p:pic>
      <p:sp>
        <p:nvSpPr>
          <p:cNvPr id="224" name=""/>
          <p:cNvSpPr/>
          <p:nvPr/>
        </p:nvSpPr>
        <p:spPr>
          <a:xfrm>
            <a:off x="425160" y="637920"/>
            <a:ext cx="3691080" cy="94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Sequential access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431640" y="2146680"/>
            <a:ext cx="3691080" cy="94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Mononoki Nerd Font Mono"/>
              </a:rPr>
              <a:t>Random access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26" name="" descr=""/>
          <p:cNvPicPr/>
          <p:nvPr/>
        </p:nvPicPr>
        <p:blipFill>
          <a:blip r:embed="rId3"/>
          <a:stretch/>
        </p:blipFill>
        <p:spPr>
          <a:xfrm>
            <a:off x="4568760" y="275040"/>
            <a:ext cx="4419720" cy="2394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297360" y="-277200"/>
            <a:ext cx="9066240" cy="94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  <a:tabLst>
                <a:tab algn="l" pos="0"/>
              </a:tabLst>
            </a:pPr>
            <a:r>
              <a:rPr b="1" lang="en-US" sz="3200" strike="noStrike" u="none" baseline="-8000">
                <a:solidFill>
                  <a:schemeClr val="dk1"/>
                </a:solidFill>
                <a:uFillTx/>
                <a:latin typeface="Mononoki Nerd Font Mono"/>
              </a:rPr>
              <a:t>Memory Mapped I/O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-1899000" y="1549440"/>
            <a:ext cx="9346320" cy="94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29" name="" descr=""/>
          <p:cNvPicPr/>
          <p:nvPr/>
        </p:nvPicPr>
        <p:blipFill>
          <a:blip r:embed="rId1"/>
          <a:stretch/>
        </p:blipFill>
        <p:spPr>
          <a:xfrm>
            <a:off x="194040" y="663840"/>
            <a:ext cx="4729680" cy="2199960"/>
          </a:xfrm>
          <a:prstGeom prst="rect">
            <a:avLst/>
          </a:prstGeom>
          <a:ln w="0">
            <a:noFill/>
          </a:ln>
        </p:spPr>
      </p:pic>
      <p:pic>
        <p:nvPicPr>
          <p:cNvPr id="230" name="" descr=""/>
          <p:cNvPicPr/>
          <p:nvPr/>
        </p:nvPicPr>
        <p:blipFill>
          <a:blip r:embed="rId2"/>
          <a:stretch/>
        </p:blipFill>
        <p:spPr>
          <a:xfrm>
            <a:off x="5823720" y="66960"/>
            <a:ext cx="4078080" cy="5670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1746</TotalTime>
  <Application>LibreOffice/24.8.2.1$FreeBSD_X86_64 LibreOffice_project/480$Build-1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2024-08-21T09:34:15Z</dcterms:created>
  <dc:creator/>
  <dc:description/>
  <dc:language>en-IN</dc:language>
  <cp:lastModifiedBy/>
  <dcterms:modified xsi:type="dcterms:W3CDTF">2024-11-11T14:30:14Z</dcterms:modified>
  <cp:revision>133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